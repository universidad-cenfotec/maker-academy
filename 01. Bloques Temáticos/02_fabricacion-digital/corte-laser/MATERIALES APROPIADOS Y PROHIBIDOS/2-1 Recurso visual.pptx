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70" r:id="rId6"/>
    <p:sldId id="262" r:id="rId7"/>
    <p:sldId id="259" r:id="rId8"/>
    <p:sldId id="271" r:id="rId9"/>
    <p:sldId id="263" r:id="rId10"/>
    <p:sldId id="272" r:id="rId11"/>
    <p:sldId id="273" r:id="rId12"/>
    <p:sldId id="274" r:id="rId13"/>
    <p:sldId id="276" r:id="rId14"/>
    <p:sldId id="277" r:id="rId15"/>
    <p:sldId id="278" r:id="rId16"/>
    <p:sldId id="280" r:id="rId17"/>
    <p:sldId id="258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06" autoAdjust="0"/>
  </p:normalViewPr>
  <p:slideViewPr>
    <p:cSldViewPr snapToGrid="0">
      <p:cViewPr varScale="1">
        <p:scale>
          <a:sx n="135" d="100"/>
          <a:sy n="135" d="100"/>
        </p:scale>
        <p:origin x="924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E22254C-143A-60B1-D2BB-4C885D77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>
            <a:extLst>
              <a:ext uri="{FF2B5EF4-FFF2-40B4-BE49-F238E27FC236}">
                <a16:creationId xmlns:a16="http://schemas.microsoft.com/office/drawing/2014/main" id="{5A95C93A-91F3-CAA9-D1E2-1C1D7CFBBE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>
            <a:extLst>
              <a:ext uri="{FF2B5EF4-FFF2-40B4-BE49-F238E27FC236}">
                <a16:creationId xmlns:a16="http://schemas.microsoft.com/office/drawing/2014/main" id="{89ECA56E-BE0C-3709-6522-F8C00C69A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352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BC2AD8F-2607-7425-72D9-4749ACCC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DF7B6295-84D1-DE32-2C32-FAA1C2650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79BBAF91-72E5-E5EA-56CD-20E4C8434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916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76B8BAA-FC92-0A94-23D9-D1DFE933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B4AC1FE3-5DBC-27B8-2AF9-95F7D23F7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95BF5ADF-0303-4FD4-FCC6-F23A4EB281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612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1B0D6CF-F39E-1DF3-6AE7-B1D3D30C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E09DEAAE-0AEF-DE1E-660D-2E045E8DE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85D66BFB-D902-A7C4-EC19-26DC2ADCF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68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73A0EE5-988B-CC3E-446E-CC26FF27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2D415A8A-C8D5-E031-883A-54AE702D5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F072E7B7-21C3-A579-21D2-84412DDBE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00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E803858-E16F-8015-15A9-9FD95C2C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0109BD1A-6645-E6F7-6F1E-2B60CE607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C3F9FC48-2036-EFD6-751D-1D7BD5B55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427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25B2B3E-5A39-E2C7-6DAF-0B51EEB1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>
            <a:extLst>
              <a:ext uri="{FF2B5EF4-FFF2-40B4-BE49-F238E27FC236}">
                <a16:creationId xmlns:a16="http://schemas.microsoft.com/office/drawing/2014/main" id="{49088B3A-5A89-DD2B-F388-E43826840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>
            <a:extLst>
              <a:ext uri="{FF2B5EF4-FFF2-40B4-BE49-F238E27FC236}">
                <a16:creationId xmlns:a16="http://schemas.microsoft.com/office/drawing/2014/main" id="{898C7A70-0C83-D34B-1687-42A85A9FF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3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3E66BDC-79F0-1010-B680-E30D79FE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5EB86202-C77A-5122-DF12-51AC283E6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7592C9F1-D81E-BE23-8BDA-2DE54A3A3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1465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361E6A1-9CD1-9674-3320-4A3652A9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01A99C4C-2510-209B-0A38-402680448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4904F609-7E43-F47E-27DA-E7E3BDEE4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586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9DDD2C4-5D92-0028-E164-2A796A64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72F46586-B9C4-3EC7-43F1-7BCF480AD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56A35606-EA7B-7E90-BD5B-B0805F343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089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CA5EEAE-F36E-DC1F-5DBB-E8DC7A45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>
            <a:extLst>
              <a:ext uri="{FF2B5EF4-FFF2-40B4-BE49-F238E27FC236}">
                <a16:creationId xmlns:a16="http://schemas.microsoft.com/office/drawing/2014/main" id="{6B3309CB-AE9A-6E4B-B61B-5905CB8A3F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>
            <a:extLst>
              <a:ext uri="{FF2B5EF4-FFF2-40B4-BE49-F238E27FC236}">
                <a16:creationId xmlns:a16="http://schemas.microsoft.com/office/drawing/2014/main" id="{BF752DD2-C4AD-B6D9-DD78-04C4D9D2D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912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240233C-25A7-64BF-94AF-279993FC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26988333-15A0-FC60-1633-59627BDC0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C5970B79-6330-8866-044F-6E348660C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255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3C30EA49-936C-D370-77B6-52E79EC6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D2B3908D-C541-CEB7-D75B-7A04B0B4A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2DF0C023-F20E-670F-4F6A-1E630C6E9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135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0A12E1D-9C66-3CB9-1D2F-7FD5290F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F0559124-EB69-D773-8340-487520F50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E9BE2ABA-0477-B331-8804-1CC0DC84F1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398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f0cde7624_3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f0cde7624_3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2050" y="3177125"/>
            <a:ext cx="68178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Errol Ramírez Céspedes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Prof. Fabricación Digital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82050" y="2323861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MATERIALES APROPIADOS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 PROHIBIDOS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ROPÓSITO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FD6E8B-2910-9FCE-2314-EB57D8B24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2400" dirty="0">
                <a:solidFill>
                  <a:schemeClr val="tx1"/>
                </a:solidFill>
                <a:latin typeface="Aileron Light" panose="00000400000000000000" pitchFamily="50" charset="0"/>
              </a:rPr>
              <a:t>Conocer los materiales apropiados para cortar con este equipo y cuáles materiales no son apropiados y la razón.</a:t>
            </a:r>
          </a:p>
          <a:p>
            <a:r>
              <a:rPr lang="es-CR" sz="2400" dirty="0">
                <a:solidFill>
                  <a:schemeClr val="tx1"/>
                </a:solidFill>
                <a:latin typeface="Aileron Light" panose="00000400000000000000" pitchFamily="50" charset="0"/>
              </a:rPr>
              <a:t>Saber diferenciar los materiales.</a:t>
            </a:r>
            <a:endParaRPr lang="en-US" dirty="0">
              <a:solidFill>
                <a:schemeClr val="tx1"/>
              </a:solidFill>
              <a:latin typeface="Aileron Light" panose="000004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82648924-59FB-CAA7-84E6-178C91C17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AF761FCB-8339-7696-1950-B96516462DD5}"/>
              </a:ext>
            </a:extLst>
          </p:cNvPr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MATERIALES APROPIADOS</a:t>
            </a:r>
          </a:p>
        </p:txBody>
      </p:sp>
    </p:spTree>
    <p:extLst>
      <p:ext uri="{BB962C8B-B14F-4D97-AF65-F5344CB8AC3E}">
        <p14:creationId xmlns:p14="http://schemas.microsoft.com/office/powerpoint/2010/main" val="164286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C094CFA-36F1-D41B-2C89-D3EB703D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8BC79C37-AB5F-BF22-4465-035D314C94D6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E50222E4-9DB9-A3C3-0306-205A181E0166}"/>
              </a:ext>
            </a:extLst>
          </p:cNvPr>
          <p:cNvSpPr txBox="1"/>
          <p:nvPr/>
        </p:nvSpPr>
        <p:spPr>
          <a:xfrm>
            <a:off x="254274" y="90100"/>
            <a:ext cx="8507675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Cartulina, cartón, papel y derivados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F6710B-05AC-FD35-7D14-E4C563F98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Es recomendable hacer pruebas en estos materiales antes de cortar el producto final ya que la velocidad y potencia pueden variar entre uno y otro y quemarlos.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Entre los cuidados que se debe tener es evitar tocar los bordes antes de limpiarlos ya que este material se carboniza y puede mancharlo.</a:t>
            </a:r>
          </a:p>
        </p:txBody>
      </p:sp>
      <p:pic>
        <p:nvPicPr>
          <p:cNvPr id="3" name="Picture 2" descr="Presentación cartón (50 unidades), mate, negro/negro, DIN A4/A3/A2/1,5 mm  50 x 35 cm : Amazon.es: Oficina y papelería">
            <a:extLst>
              <a:ext uri="{FF2B5EF4-FFF2-40B4-BE49-F238E27FC236}">
                <a16:creationId xmlns:a16="http://schemas.microsoft.com/office/drawing/2014/main" id="{3A13B4AE-92D5-2588-D401-7A6A516C2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448" y="1049785"/>
            <a:ext cx="3513627" cy="351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61;p14">
            <a:extLst>
              <a:ext uri="{FF2B5EF4-FFF2-40B4-BE49-F238E27FC236}">
                <a16:creationId xmlns:a16="http://schemas.microsoft.com/office/drawing/2014/main" id="{BFC267DD-69B6-3982-DC71-8B31640F75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581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1AA379BC-5A6E-51DF-C6AC-5175FD88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FC385AB3-22BD-784E-A838-EAD7B6C28F31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B8E54BAD-E5E3-C9CA-E8D5-C933EA7750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1D4FAAA-A0BE-0599-DBBA-50063E3996F9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MADERA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1A13C2-F374-D220-9C7E-EC6D1EE6A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Todo tipo de madera es apropiado para utilizar en la cortadora de CO2.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Las técnicas que podamos utilizar van a depender de la densidad y grosor de la misma, así como de qué tan bien calibrada está la máquina.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Entre las recomendadas para corte está el LDF, MDF, </a:t>
            </a:r>
            <a:r>
              <a:rPr lang="es-ES" sz="1600" dirty="0" err="1">
                <a:solidFill>
                  <a:schemeClr val="tx1"/>
                </a:solidFill>
                <a:latin typeface="Aileron Light" panose="00000400000000000000" pitchFamily="50" charset="0"/>
              </a:rPr>
              <a:t>plywood</a:t>
            </a:r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Las maderas naturales tienden a ser muy gruesas y cuesta cortarlas, pero son muy sencillas de grabar y delinear.</a:t>
            </a:r>
          </a:p>
        </p:txBody>
      </p:sp>
      <p:pic>
        <p:nvPicPr>
          <p:cNvPr id="2050" name="Picture 2" descr="30 Hojas de Tableros de Madera de MDF Delgados de 2 Nicaragua | Ubuy">
            <a:extLst>
              <a:ext uri="{FF2B5EF4-FFF2-40B4-BE49-F238E27FC236}">
                <a16:creationId xmlns:a16="http://schemas.microsoft.com/office/drawing/2014/main" id="{50299942-5346-58DA-1C65-A764099CC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447" y="1152476"/>
            <a:ext cx="3513627" cy="295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70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DDF08EA-3334-D08D-5519-9529D65A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11B781CB-06AC-9150-D4F7-D0C1C20F031B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EEF38172-84EF-EFFE-BB5B-BBFB450292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0296B06-62E2-2742-D0E7-92D3E9082FBA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ACRÍLICOS (metacrilato)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9C5D87-A378-94B5-7521-006C604EB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dirty="0">
                <a:solidFill>
                  <a:schemeClr val="tx1"/>
                </a:solidFill>
                <a:latin typeface="Aileron Light" panose="00000400000000000000" pitchFamily="50" charset="0"/>
              </a:rPr>
              <a:t>Es un material ligero y resistente que se utiliza para elaboración de signos, anuncios y otros.</a:t>
            </a:r>
          </a:p>
          <a:p>
            <a:r>
              <a:rPr lang="es-ES" sz="1800" dirty="0">
                <a:solidFill>
                  <a:schemeClr val="tx1"/>
                </a:solidFill>
                <a:latin typeface="Aileron Light" panose="00000400000000000000" pitchFamily="50" charset="0"/>
              </a:rPr>
              <a:t>Es sencillo de grabar y delinear.</a:t>
            </a:r>
          </a:p>
          <a:p>
            <a:r>
              <a:rPr lang="es-ES" sz="1800" dirty="0">
                <a:solidFill>
                  <a:schemeClr val="tx1"/>
                </a:solidFill>
                <a:latin typeface="Aileron Light" panose="00000400000000000000" pitchFamily="50" charset="0"/>
              </a:rPr>
              <a:t>La capacidad de cortarlo depende del grosor y varía entre las máquinas de diferentes potencias.</a:t>
            </a:r>
          </a:p>
        </p:txBody>
      </p:sp>
      <p:pic>
        <p:nvPicPr>
          <p:cNvPr id="3074" name="Picture 2" descr="Diferencia entre el metacrilato de colada y de extrusión? - PEREZ CAMPS">
            <a:extLst>
              <a:ext uri="{FF2B5EF4-FFF2-40B4-BE49-F238E27FC236}">
                <a16:creationId xmlns:a16="http://schemas.microsoft.com/office/drawing/2014/main" id="{F32035C4-67E2-B689-70F3-B4EF688A9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485" y="1309350"/>
            <a:ext cx="3684589" cy="276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57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1822524-A35C-C4F1-B135-E3B8CAE8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F24952AB-D2CD-94D0-E2A3-09315C456259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188C5BD-9CCD-92A6-746F-6FB9103BB22B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TELA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A64006-DF69-9418-DB5C-E4DD5640B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La tela es muy sencilla de cortar, no así de grabar y delinear, al ser tan delgada.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Hay que tener cuidado si la tela está impregnada de algún tipo de resina o plástico.</a:t>
            </a:r>
          </a:p>
        </p:txBody>
      </p:sp>
      <p:pic>
        <p:nvPicPr>
          <p:cNvPr id="4098" name="Picture 2" descr="Cloth Fabric at best price in Anand by Shreeman Fashion | ID: 12525085233">
            <a:extLst>
              <a:ext uri="{FF2B5EF4-FFF2-40B4-BE49-F238E27FC236}">
                <a16:creationId xmlns:a16="http://schemas.microsoft.com/office/drawing/2014/main" id="{E28253EF-3D82-D80E-1BC4-DA9CE8F2D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881" y="941838"/>
            <a:ext cx="3197504" cy="319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FE747FB2-F156-6964-0CED-D6ED8F2BA6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484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1F296CE8-C86D-C12E-C69E-0292D9D8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76A43CAF-0966-B13B-EA43-A1031CD72AAB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B72BCC8-109A-0D9C-61EA-84C26417EDEB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CUERO*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2D246-8050-72AB-7294-14151FC91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Si es muy grueso es difícil de cortar, pero se puede grabar y delinear muy bien.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Con cueros delgados es posible cortarlos con facilidad.</a:t>
            </a:r>
          </a:p>
          <a:p>
            <a:endParaRPr lang="es-ES" sz="1600" dirty="0">
              <a:solidFill>
                <a:schemeClr val="tx1"/>
              </a:solidFill>
              <a:latin typeface="Aileron Light" panose="00000400000000000000" pitchFamily="50" charset="0"/>
            </a:endParaRPr>
          </a:p>
          <a:p>
            <a:endParaRPr lang="es-ES" sz="1600" dirty="0">
              <a:solidFill>
                <a:schemeClr val="tx1"/>
              </a:solidFill>
              <a:latin typeface="Aileron Light" panose="00000400000000000000" pitchFamily="50" charset="0"/>
            </a:endParaRPr>
          </a:p>
          <a:p>
            <a:endParaRPr lang="es-ES" sz="1200" dirty="0">
              <a:solidFill>
                <a:schemeClr val="tx1"/>
              </a:solidFill>
              <a:latin typeface="Aileron Light" panose="00000400000000000000" pitchFamily="50" charset="0"/>
            </a:endParaRPr>
          </a:p>
          <a:p>
            <a:endParaRPr lang="es-ES" sz="1200" dirty="0">
              <a:solidFill>
                <a:schemeClr val="tx1"/>
              </a:solidFill>
              <a:latin typeface="Aileron Light" panose="00000400000000000000" pitchFamily="50" charset="0"/>
            </a:endParaRPr>
          </a:p>
          <a:p>
            <a:endParaRPr lang="es-ES" sz="1200" dirty="0">
              <a:solidFill>
                <a:schemeClr val="tx1"/>
              </a:solidFill>
              <a:latin typeface="Aileron Light" panose="00000400000000000000" pitchFamily="50" charset="0"/>
            </a:endParaRPr>
          </a:p>
          <a:p>
            <a:endParaRPr lang="es-ES" sz="1200" dirty="0">
              <a:solidFill>
                <a:schemeClr val="tx1"/>
              </a:solidFill>
              <a:latin typeface="Aileron Light" panose="00000400000000000000" pitchFamily="50" charset="0"/>
            </a:endParaRPr>
          </a:p>
          <a:p>
            <a:pPr marL="139700" indent="0">
              <a:buNone/>
            </a:pPr>
            <a:r>
              <a:rPr lang="es-ES" sz="1200" dirty="0">
                <a:solidFill>
                  <a:schemeClr val="tx1"/>
                </a:solidFill>
                <a:latin typeface="Aileron Light" panose="00000400000000000000" pitchFamily="50" charset="0"/>
              </a:rPr>
              <a:t>*Cuero real solamente.</a:t>
            </a:r>
          </a:p>
          <a:p>
            <a:pPr marL="139700" indent="0">
              <a:buNone/>
            </a:pPr>
            <a:r>
              <a:rPr lang="es-ES" sz="1200" dirty="0">
                <a:solidFill>
                  <a:schemeClr val="tx1"/>
                </a:solidFill>
                <a:latin typeface="Aileron Light" panose="00000400000000000000" pitchFamily="50" charset="0"/>
              </a:rPr>
              <a:t>Cueros sintéticos van a depender de su composición.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AC8C2BB0-AFE3-8503-E61F-8A5C6D4737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Thin and Extra-Thick Leather Suede (Split Suede) — Pergamena">
            <a:extLst>
              <a:ext uri="{FF2B5EF4-FFF2-40B4-BE49-F238E27FC236}">
                <a16:creationId xmlns:a16="http://schemas.microsoft.com/office/drawing/2014/main" id="{F628C2DB-DCB9-A1C9-FA0F-5611A67D56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-40" r="13878" b="323"/>
          <a:stretch/>
        </p:blipFill>
        <p:spPr bwMode="auto">
          <a:xfrm>
            <a:off x="4821160" y="940579"/>
            <a:ext cx="3502225" cy="319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85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1658420F-38A3-A497-2B5D-FC37E054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05CA563A-B149-C38A-F78B-117623C36810}"/>
              </a:ext>
            </a:extLst>
          </p:cNvPr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MATERIALES PROHIBIDOS</a:t>
            </a:r>
          </a:p>
        </p:txBody>
      </p:sp>
    </p:spTree>
    <p:extLst>
      <p:ext uri="{BB962C8B-B14F-4D97-AF65-F5344CB8AC3E}">
        <p14:creationId xmlns:p14="http://schemas.microsoft.com/office/powerpoint/2010/main" val="182411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3F9BEB82-5EE4-B8AF-4953-2FE43BFBE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0C412C8F-6AA8-47CE-62C3-E07207DBD1B8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1915814-A5C0-C7BA-E7C4-334AF238D687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PVC, VINIL, CUERO ARTIFICIAL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34900E-0BAB-A209-6DE3-4977B2479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El primero de estos materiales siempre será el PVC y derivados de vinil.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Al quemarse emiten gas cloro puro que es tóxico para los pulmones ojos y piel y en cuestión de 3 semanas pulveriza el metal de la máquina.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D065A8FC-AD7D-5E0F-E0FA-1513C486A5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0" name="Picture 6" descr="5 láminas de PVC para manualidades, 200 x 300 x 2 mm, color blanco :  Amazon.es: Hogar y cocina">
            <a:extLst>
              <a:ext uri="{FF2B5EF4-FFF2-40B4-BE49-F238E27FC236}">
                <a16:creationId xmlns:a16="http://schemas.microsoft.com/office/drawing/2014/main" id="{6BC11BB1-7AB8-AFE4-A1DC-85A6B377A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" t="11692" r="1" b="14456"/>
          <a:stretch/>
        </p:blipFill>
        <p:spPr bwMode="auto">
          <a:xfrm>
            <a:off x="4748016" y="1211386"/>
            <a:ext cx="3922058" cy="289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75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357CF46-F636-FBB8-B1EE-7E380D56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938DBC51-7FFB-CBC6-6E3C-82421181E8C1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96E870C-C3A2-D7F3-C2E6-048A9D82F5CA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ABS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4CADE1-294B-80AE-3725-648F335E4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No corta bien con láser porque tiende a derretirse en lugar de cortarse.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Tiene alta probabilidad de alzar llama.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Emite gases de cianuro que son venenosos.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414236C2-FFC0-37FB-490F-762C5FFB5E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 descr="Amazon.com: Paquete de 2 láminas de plástico ABS, hoja de plástico negro de  8 x 12 x 1/8 pulgadas de grosor (0.118 in), panel rígido moldeable con  diferentes superficies, panel de plástico">
            <a:extLst>
              <a:ext uri="{FF2B5EF4-FFF2-40B4-BE49-F238E27FC236}">
                <a16:creationId xmlns:a16="http://schemas.microsoft.com/office/drawing/2014/main" id="{36D99EC6-444A-C2F7-DCC9-19E0E707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650" y="1211387"/>
            <a:ext cx="2898150" cy="289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71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DC0CB1-811D-FE84-EB24-249A57EA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15CDCDD3-E60B-8334-3C82-8BEF5BA327A9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2B0E97E-CE99-21B1-2994-61B939709D3E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POLIESTIRENO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911AA8-DBBD-ED07-DAD5-DE9628DA1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Es el material #1 en causar fuegos por láser.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No se corta, solo se derrite.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9A858BFE-C0E8-A394-31FD-E9714EED35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POLIESTIRENO - Vitepa">
            <a:extLst>
              <a:ext uri="{FF2B5EF4-FFF2-40B4-BE49-F238E27FC236}">
                <a16:creationId xmlns:a16="http://schemas.microsoft.com/office/drawing/2014/main" id="{4F8CC1AB-3E25-4744-AF1E-4B1624092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0" r="5731"/>
          <a:stretch/>
        </p:blipFill>
        <p:spPr bwMode="auto">
          <a:xfrm>
            <a:off x="4832402" y="1152475"/>
            <a:ext cx="3837672" cy="289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10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5BD34282-5673-1686-5242-3E629491F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B9F5C478-A283-48CF-DE05-F38CA965C285}"/>
              </a:ext>
            </a:extLst>
          </p:cNvPr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OTROS MATERIALES: GRABADOS</a:t>
            </a:r>
          </a:p>
        </p:txBody>
      </p:sp>
    </p:spTree>
    <p:extLst>
      <p:ext uri="{BB962C8B-B14F-4D97-AF65-F5344CB8AC3E}">
        <p14:creationId xmlns:p14="http://schemas.microsoft.com/office/powerpoint/2010/main" val="3610827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379EAB0-B16B-94F1-7056-1A77BEEB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B61466ED-D883-6DFF-726E-51C54A063158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054AB38-3859-CB07-C4A5-4C4F0A609240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VIDRIO Y CERÁMICA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1B33BF-F9D3-BE39-5E3D-EF8EA78A7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Es un material que no es posible cortar por medio del láser de CO2.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Se puede grabar o delinear siempre y cuando no sea 100% transparente.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Para grabar vidrio transparente es necesario utilizar una cubierta ya sea de pintura, tape o adhesiva (NO vinil).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C0100521-2947-4754-B98F-38C6D6813D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8" name="Picture 2" descr="Vidrio Laminado | Vidrios &amp; Vitrolit">
            <a:extLst>
              <a:ext uri="{FF2B5EF4-FFF2-40B4-BE49-F238E27FC236}">
                <a16:creationId xmlns:a16="http://schemas.microsoft.com/office/drawing/2014/main" id="{7BD7BC01-2A06-3B5C-7264-F435D9F32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254" y="1152475"/>
            <a:ext cx="2902608" cy="289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758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F1A0DA7-B0E6-05AA-AF12-6A2078755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AA376686-6706-2F12-1FDC-2DB91C207270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193CB16-27F3-0EB9-9877-6ED61E572A18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ALUMINIO ANODIZADO O PINTADO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AC7023-815E-8488-3E6D-0755F4426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El anodizado es una capa de óxido anódico generada mediante un proceso electroquímico.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El láser es capaz de vaporizar esta capa o la capa de pintura y dar una apariencia de “grabado”.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No se puede cortar con láser de CO2.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9C5A331D-4C63-AF0A-EAD5-92F7451091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CONTE GROUP - ALUMINIO ANODIZADO - Revista Constructivo">
            <a:extLst>
              <a:ext uri="{FF2B5EF4-FFF2-40B4-BE49-F238E27FC236}">
                <a16:creationId xmlns:a16="http://schemas.microsoft.com/office/drawing/2014/main" id="{99A00D33-0D28-547A-A865-3B0A46418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8" r="18696"/>
          <a:stretch/>
        </p:blipFill>
        <p:spPr bwMode="auto">
          <a:xfrm>
            <a:off x="5428254" y="1152476"/>
            <a:ext cx="2902608" cy="289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08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4ED2FDA-FF86-F95B-50FA-DE34EB50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1EA209F0-95B6-80AA-8DCB-9CBF3767801E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5072E3D-61AC-5E7A-E411-A4DFFD7E253B}"/>
              </a:ext>
            </a:extLst>
          </p:cNvPr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PIEDRA, MÁRMOL, GRANITO, ONYX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5DCBA1-1084-26E3-4E43-260202A65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No es posible cortarlo con láser de CO2, pero se puede grabar.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Cuando se graba obtiene una textura blanca.</a:t>
            </a:r>
          </a:p>
          <a:p>
            <a:r>
              <a:rPr lang="es-ES" sz="1600" dirty="0">
                <a:solidFill>
                  <a:schemeClr val="tx1"/>
                </a:solidFill>
                <a:latin typeface="Aileron Light" panose="00000400000000000000" pitchFamily="50" charset="0"/>
              </a:rPr>
              <a:t>Se debe usar una potencia alta y una velocidad baja.</a:t>
            </a:r>
          </a:p>
        </p:txBody>
      </p:sp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2BC5C08C-E180-DD89-2B8B-07BE9E64B6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Fondo de textura de mármol de ónix de cristal con vetas marrones. Mármol de  piedra cuarcita de Thassos para cerámica. | Foto Premium">
            <a:extLst>
              <a:ext uri="{FF2B5EF4-FFF2-40B4-BE49-F238E27FC236}">
                <a16:creationId xmlns:a16="http://schemas.microsoft.com/office/drawing/2014/main" id="{28B9D08F-D058-82F7-9846-7C235E645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83" t="-144" b="144"/>
          <a:stretch/>
        </p:blipFill>
        <p:spPr bwMode="auto">
          <a:xfrm>
            <a:off x="5252485" y="1152475"/>
            <a:ext cx="341759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280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11700" y="3985275"/>
            <a:ext cx="85206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ejramirez</a:t>
            </a:r>
            <a:r>
              <a:rPr lang="en" sz="2000" dirty="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@ucenfotec.ac.cr</a:t>
            </a:r>
            <a:endParaRPr sz="2000" dirty="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4294967295"/>
          </p:nvPr>
        </p:nvSpPr>
        <p:spPr>
          <a:xfrm>
            <a:off x="311700" y="742225"/>
            <a:ext cx="8520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¿Preguntas?</a:t>
            </a:r>
            <a:endParaRPr sz="5300" b="1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482" y="1821025"/>
            <a:ext cx="1031030" cy="199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5DA4BA5-91F8-0CDF-E94A-41563248C89B}"/>
              </a:ext>
            </a:extLst>
          </p:cNvPr>
          <p:cNvGrpSpPr/>
          <p:nvPr/>
        </p:nvGrpSpPr>
        <p:grpSpPr>
          <a:xfrm>
            <a:off x="3500920" y="4517450"/>
            <a:ext cx="2142153" cy="380700"/>
            <a:chOff x="3321763" y="4526813"/>
            <a:chExt cx="2142153" cy="380700"/>
          </a:xfrm>
        </p:grpSpPr>
        <p:sp>
          <p:nvSpPr>
            <p:cNvPr id="71" name="Google Shape;71;p15"/>
            <p:cNvSpPr txBox="1"/>
            <p:nvPr/>
          </p:nvSpPr>
          <p:spPr>
            <a:xfrm>
              <a:off x="4228226" y="4526813"/>
              <a:ext cx="123569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666666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@redbeardcr</a:t>
              </a:r>
              <a:endParaRPr dirty="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36307C3-1C55-EA99-3AD7-14E771DBD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48861" y="4595121"/>
              <a:ext cx="252265" cy="25226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48E46F1-6A23-4A18-F9A4-651B79A31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21763" y="4595967"/>
              <a:ext cx="252265" cy="251421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CF624DC-F5B0-4AA4-932E-8F95DC914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75959" y="4595121"/>
              <a:ext cx="252266" cy="2522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559</Words>
  <Application>Microsoft Office PowerPoint</Application>
  <PresentationFormat>On-screen Show (16:9)</PresentationFormat>
  <Paragraphs>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Aileron Light</vt:lpstr>
      <vt:lpstr>Arial</vt:lpstr>
      <vt:lpstr>Montserrat</vt:lpstr>
      <vt:lpstr>Source Sans Pro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Errol RamCes</dc:creator>
  <cp:lastModifiedBy>Errol RamCes</cp:lastModifiedBy>
  <cp:revision>12</cp:revision>
  <dcterms:modified xsi:type="dcterms:W3CDTF">2025-05-07T04:49:01Z</dcterms:modified>
</cp:coreProperties>
</file>