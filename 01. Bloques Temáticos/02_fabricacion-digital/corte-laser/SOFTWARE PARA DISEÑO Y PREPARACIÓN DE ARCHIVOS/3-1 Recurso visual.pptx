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21"/>
  </p:notesMasterIdLst>
  <p:sldIdLst>
    <p:sldId id="256" r:id="rId2"/>
    <p:sldId id="257" r:id="rId3"/>
    <p:sldId id="283" r:id="rId4"/>
    <p:sldId id="284" r:id="rId5"/>
    <p:sldId id="279" r:id="rId6"/>
    <p:sldId id="285" r:id="rId7"/>
    <p:sldId id="278" r:id="rId8"/>
    <p:sldId id="277" r:id="rId9"/>
    <p:sldId id="273" r:id="rId10"/>
    <p:sldId id="274" r:id="rId11"/>
    <p:sldId id="275" r:id="rId12"/>
    <p:sldId id="276" r:id="rId13"/>
    <p:sldId id="286" r:id="rId14"/>
    <p:sldId id="287" r:id="rId15"/>
    <p:sldId id="288" r:id="rId16"/>
    <p:sldId id="289" r:id="rId17"/>
    <p:sldId id="290" r:id="rId18"/>
    <p:sldId id="291" r:id="rId19"/>
    <p:sldId id="258" r:id="rId20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28" d="100"/>
          <a:sy n="128" d="100"/>
        </p:scale>
        <p:origin x="1134" y="33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15d2f8ed7c0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15d2f8ed7c0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15d2f8ed7c0_0_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15d2f8ed7c0_0_5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>
          <a:extLst>
            <a:ext uri="{FF2B5EF4-FFF2-40B4-BE49-F238E27FC236}">
              <a16:creationId xmlns:a16="http://schemas.microsoft.com/office/drawing/2014/main" id="{8AF2B5E5-03D6-0C61-D276-44943E970B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15d2f8ed7c0_0_50:notes">
            <a:extLst>
              <a:ext uri="{FF2B5EF4-FFF2-40B4-BE49-F238E27FC236}">
                <a16:creationId xmlns:a16="http://schemas.microsoft.com/office/drawing/2014/main" id="{8D706D31-CE54-7405-C8D3-CA7D6951FF2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15d2f8ed7c0_0_50:notes">
            <a:extLst>
              <a:ext uri="{FF2B5EF4-FFF2-40B4-BE49-F238E27FC236}">
                <a16:creationId xmlns:a16="http://schemas.microsoft.com/office/drawing/2014/main" id="{DBA436CC-FB7B-AA1A-932C-9E6EDB8D1B1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666582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>
          <a:extLst>
            <a:ext uri="{FF2B5EF4-FFF2-40B4-BE49-F238E27FC236}">
              <a16:creationId xmlns:a16="http://schemas.microsoft.com/office/drawing/2014/main" id="{5A0C2F01-B2A3-7DAB-2F5C-7327485267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15d2f8ed7c0_0_50:notes">
            <a:extLst>
              <a:ext uri="{FF2B5EF4-FFF2-40B4-BE49-F238E27FC236}">
                <a16:creationId xmlns:a16="http://schemas.microsoft.com/office/drawing/2014/main" id="{CED9C13A-8C78-FC95-4593-3C66F9B1F6A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15d2f8ed7c0_0_50:notes">
            <a:extLst>
              <a:ext uri="{FF2B5EF4-FFF2-40B4-BE49-F238E27FC236}">
                <a16:creationId xmlns:a16="http://schemas.microsoft.com/office/drawing/2014/main" id="{56899077-04FB-8277-32D2-C06A3B62ABD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8803408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>
          <a:extLst>
            <a:ext uri="{FF2B5EF4-FFF2-40B4-BE49-F238E27FC236}">
              <a16:creationId xmlns:a16="http://schemas.microsoft.com/office/drawing/2014/main" id="{AC72479B-918E-1095-A544-3BFA42C61A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15d2f8ed7c0_0_50:notes">
            <a:extLst>
              <a:ext uri="{FF2B5EF4-FFF2-40B4-BE49-F238E27FC236}">
                <a16:creationId xmlns:a16="http://schemas.microsoft.com/office/drawing/2014/main" id="{7A38B6D8-CFDE-0D33-0371-8CD42CA91E6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15d2f8ed7c0_0_50:notes">
            <a:extLst>
              <a:ext uri="{FF2B5EF4-FFF2-40B4-BE49-F238E27FC236}">
                <a16:creationId xmlns:a16="http://schemas.microsoft.com/office/drawing/2014/main" id="{615B9395-4918-74EB-E5BD-6ABC40122FC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5945200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>
          <a:extLst>
            <a:ext uri="{FF2B5EF4-FFF2-40B4-BE49-F238E27FC236}">
              <a16:creationId xmlns:a16="http://schemas.microsoft.com/office/drawing/2014/main" id="{88B47665-A25D-DEC3-7EF7-A3B2789022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15d2f8ed7c0_0_0:notes">
            <a:extLst>
              <a:ext uri="{FF2B5EF4-FFF2-40B4-BE49-F238E27FC236}">
                <a16:creationId xmlns:a16="http://schemas.microsoft.com/office/drawing/2014/main" id="{C60DEACA-7DC1-E473-32A2-336444FD415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15d2f8ed7c0_0_0:notes">
            <a:extLst>
              <a:ext uri="{FF2B5EF4-FFF2-40B4-BE49-F238E27FC236}">
                <a16:creationId xmlns:a16="http://schemas.microsoft.com/office/drawing/2014/main" id="{23117995-3269-2BA5-CF1A-088CD64C82C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455771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>
          <a:extLst>
            <a:ext uri="{FF2B5EF4-FFF2-40B4-BE49-F238E27FC236}">
              <a16:creationId xmlns:a16="http://schemas.microsoft.com/office/drawing/2014/main" id="{37D84148-BFE2-CA3B-ED05-0ECC42AFFB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15d2f8ed7c0_0_50:notes">
            <a:extLst>
              <a:ext uri="{FF2B5EF4-FFF2-40B4-BE49-F238E27FC236}">
                <a16:creationId xmlns:a16="http://schemas.microsoft.com/office/drawing/2014/main" id="{295C3AA1-917D-B9F7-EC25-885267D9FAC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15d2f8ed7c0_0_50:notes">
            <a:extLst>
              <a:ext uri="{FF2B5EF4-FFF2-40B4-BE49-F238E27FC236}">
                <a16:creationId xmlns:a16="http://schemas.microsoft.com/office/drawing/2014/main" id="{4BD6C5A8-741A-3F3E-8EEB-FB895251D1F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04062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>
          <a:extLst>
            <a:ext uri="{FF2B5EF4-FFF2-40B4-BE49-F238E27FC236}">
              <a16:creationId xmlns:a16="http://schemas.microsoft.com/office/drawing/2014/main" id="{44E9A411-C638-6773-7D8B-9AD4DB39C6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15d2f8ed7c0_0_50:notes">
            <a:extLst>
              <a:ext uri="{FF2B5EF4-FFF2-40B4-BE49-F238E27FC236}">
                <a16:creationId xmlns:a16="http://schemas.microsoft.com/office/drawing/2014/main" id="{60EDC0A4-D776-FE60-DC29-A46A5119914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15d2f8ed7c0_0_50:notes">
            <a:extLst>
              <a:ext uri="{FF2B5EF4-FFF2-40B4-BE49-F238E27FC236}">
                <a16:creationId xmlns:a16="http://schemas.microsoft.com/office/drawing/2014/main" id="{AB8FA173-B756-5F85-D143-0F4A85BCB20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3135248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>
          <a:extLst>
            <a:ext uri="{FF2B5EF4-FFF2-40B4-BE49-F238E27FC236}">
              <a16:creationId xmlns:a16="http://schemas.microsoft.com/office/drawing/2014/main" id="{2EDF1148-03B7-D30C-6950-3E7AFB9D7F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15d2f8ed7c0_0_50:notes">
            <a:extLst>
              <a:ext uri="{FF2B5EF4-FFF2-40B4-BE49-F238E27FC236}">
                <a16:creationId xmlns:a16="http://schemas.microsoft.com/office/drawing/2014/main" id="{EC861FF2-31EF-7611-97B2-313D16E6421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15d2f8ed7c0_0_50:notes">
            <a:extLst>
              <a:ext uri="{FF2B5EF4-FFF2-40B4-BE49-F238E27FC236}">
                <a16:creationId xmlns:a16="http://schemas.microsoft.com/office/drawing/2014/main" id="{367F488F-B640-9EBE-315F-2678E72F550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7755837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>
          <a:extLst>
            <a:ext uri="{FF2B5EF4-FFF2-40B4-BE49-F238E27FC236}">
              <a16:creationId xmlns:a16="http://schemas.microsoft.com/office/drawing/2014/main" id="{B192B35A-1D61-6D03-4E83-B6E4F56DA4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15d2f8ed7c0_0_50:notes">
            <a:extLst>
              <a:ext uri="{FF2B5EF4-FFF2-40B4-BE49-F238E27FC236}">
                <a16:creationId xmlns:a16="http://schemas.microsoft.com/office/drawing/2014/main" id="{86AA9256-B3C6-2D08-6280-7B6236F4A1C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15d2f8ed7c0_0_50:notes">
            <a:extLst>
              <a:ext uri="{FF2B5EF4-FFF2-40B4-BE49-F238E27FC236}">
                <a16:creationId xmlns:a16="http://schemas.microsoft.com/office/drawing/2014/main" id="{0C158F18-736D-2790-7986-91C339F8230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5219129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>
          <a:extLst>
            <a:ext uri="{FF2B5EF4-FFF2-40B4-BE49-F238E27FC236}">
              <a16:creationId xmlns:a16="http://schemas.microsoft.com/office/drawing/2014/main" id="{CD251253-AE4C-7922-A68F-6C3086DECC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15d2f8ed7c0_0_50:notes">
            <a:extLst>
              <a:ext uri="{FF2B5EF4-FFF2-40B4-BE49-F238E27FC236}">
                <a16:creationId xmlns:a16="http://schemas.microsoft.com/office/drawing/2014/main" id="{2B02292D-1783-C39F-DADE-B845F5847CC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15d2f8ed7c0_0_50:notes">
            <a:extLst>
              <a:ext uri="{FF2B5EF4-FFF2-40B4-BE49-F238E27FC236}">
                <a16:creationId xmlns:a16="http://schemas.microsoft.com/office/drawing/2014/main" id="{282C7FE3-E101-F8E0-06A9-2AC56039515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0415427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>
          <a:extLst>
            <a:ext uri="{FF2B5EF4-FFF2-40B4-BE49-F238E27FC236}">
              <a16:creationId xmlns:a16="http://schemas.microsoft.com/office/drawing/2014/main" id="{1FDDD755-88F1-1F58-9055-C9FD831E9E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15d2f8ed7c0_0_50:notes">
            <a:extLst>
              <a:ext uri="{FF2B5EF4-FFF2-40B4-BE49-F238E27FC236}">
                <a16:creationId xmlns:a16="http://schemas.microsoft.com/office/drawing/2014/main" id="{141E10BA-697B-B8D2-AEEF-F6D2854CF69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15d2f8ed7c0_0_50:notes">
            <a:extLst>
              <a:ext uri="{FF2B5EF4-FFF2-40B4-BE49-F238E27FC236}">
                <a16:creationId xmlns:a16="http://schemas.microsoft.com/office/drawing/2014/main" id="{E8194C7E-2B0C-7150-CA59-160995DE9E8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0750109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>
          <a:extLst>
            <a:ext uri="{FF2B5EF4-FFF2-40B4-BE49-F238E27FC236}">
              <a16:creationId xmlns:a16="http://schemas.microsoft.com/office/drawing/2014/main" id="{D4FECA47-7BAD-B728-F3EB-610008FC4F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15d2f8ed7c0_0_0:notes">
            <a:extLst>
              <a:ext uri="{FF2B5EF4-FFF2-40B4-BE49-F238E27FC236}">
                <a16:creationId xmlns:a16="http://schemas.microsoft.com/office/drawing/2014/main" id="{DE15D946-8EBB-7896-B0F9-877B27CB4A8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15d2f8ed7c0_0_0:notes">
            <a:extLst>
              <a:ext uri="{FF2B5EF4-FFF2-40B4-BE49-F238E27FC236}">
                <a16:creationId xmlns:a16="http://schemas.microsoft.com/office/drawing/2014/main" id="{DDB37144-BC0F-93D8-07EA-745DA1DA9DC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9665846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>
          <a:extLst>
            <a:ext uri="{FF2B5EF4-FFF2-40B4-BE49-F238E27FC236}">
              <a16:creationId xmlns:a16="http://schemas.microsoft.com/office/drawing/2014/main" id="{044D022C-70F3-D25F-37D1-F83911D2BA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15d2f8ed7c0_0_50:notes">
            <a:extLst>
              <a:ext uri="{FF2B5EF4-FFF2-40B4-BE49-F238E27FC236}">
                <a16:creationId xmlns:a16="http://schemas.microsoft.com/office/drawing/2014/main" id="{1DC45B6B-C25F-B395-6C51-954E18A638E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15d2f8ed7c0_0_50:notes">
            <a:extLst>
              <a:ext uri="{FF2B5EF4-FFF2-40B4-BE49-F238E27FC236}">
                <a16:creationId xmlns:a16="http://schemas.microsoft.com/office/drawing/2014/main" id="{85BDFD97-71E1-4F74-1FB3-4CA5D454EA3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2673247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>
          <a:extLst>
            <a:ext uri="{FF2B5EF4-FFF2-40B4-BE49-F238E27FC236}">
              <a16:creationId xmlns:a16="http://schemas.microsoft.com/office/drawing/2014/main" id="{4A1981DA-41B0-36AF-E9B2-35B419F7CB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15d2f8ed7c0_0_50:notes">
            <a:extLst>
              <a:ext uri="{FF2B5EF4-FFF2-40B4-BE49-F238E27FC236}">
                <a16:creationId xmlns:a16="http://schemas.microsoft.com/office/drawing/2014/main" id="{EEC061FA-721B-3E25-8571-18CD96E3CCE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15d2f8ed7c0_0_50:notes">
            <a:extLst>
              <a:ext uri="{FF2B5EF4-FFF2-40B4-BE49-F238E27FC236}">
                <a16:creationId xmlns:a16="http://schemas.microsoft.com/office/drawing/2014/main" id="{D0ABCF52-2824-500E-3E93-C0539546B53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6964429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>
          <a:extLst>
            <a:ext uri="{FF2B5EF4-FFF2-40B4-BE49-F238E27FC236}">
              <a16:creationId xmlns:a16="http://schemas.microsoft.com/office/drawing/2014/main" id="{BA49C797-3FFB-38F5-B09C-C0E8E03780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15d2f8ed7c0_0_50:notes">
            <a:extLst>
              <a:ext uri="{FF2B5EF4-FFF2-40B4-BE49-F238E27FC236}">
                <a16:creationId xmlns:a16="http://schemas.microsoft.com/office/drawing/2014/main" id="{26A25B65-D263-D081-C475-11279565D9E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15d2f8ed7c0_0_50:notes">
            <a:extLst>
              <a:ext uri="{FF2B5EF4-FFF2-40B4-BE49-F238E27FC236}">
                <a16:creationId xmlns:a16="http://schemas.microsoft.com/office/drawing/2014/main" id="{2607085C-4891-D6C5-053D-63FC7E9647D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4271282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>
          <a:extLst>
            <a:ext uri="{FF2B5EF4-FFF2-40B4-BE49-F238E27FC236}">
              <a16:creationId xmlns:a16="http://schemas.microsoft.com/office/drawing/2014/main" id="{A15A03A5-41D5-921F-7E19-A3E9A7B04F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15d2f8ed7c0_0_50:notes">
            <a:extLst>
              <a:ext uri="{FF2B5EF4-FFF2-40B4-BE49-F238E27FC236}">
                <a16:creationId xmlns:a16="http://schemas.microsoft.com/office/drawing/2014/main" id="{E1320542-A1EF-7D75-ACA5-C82DE26B564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15d2f8ed7c0_0_50:notes">
            <a:extLst>
              <a:ext uri="{FF2B5EF4-FFF2-40B4-BE49-F238E27FC236}">
                <a16:creationId xmlns:a16="http://schemas.microsoft.com/office/drawing/2014/main" id="{44729560-B432-1DF9-04DF-73C5AED690C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24451645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>
          <a:extLst>
            <a:ext uri="{FF2B5EF4-FFF2-40B4-BE49-F238E27FC236}">
              <a16:creationId xmlns:a16="http://schemas.microsoft.com/office/drawing/2014/main" id="{5654111C-910D-8084-713D-D8F00E085B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15d2f8ed7c0_0_50:notes">
            <a:extLst>
              <a:ext uri="{FF2B5EF4-FFF2-40B4-BE49-F238E27FC236}">
                <a16:creationId xmlns:a16="http://schemas.microsoft.com/office/drawing/2014/main" id="{EE769E3A-1808-0FAE-BC6E-775216847DD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15d2f8ed7c0_0_50:notes">
            <a:extLst>
              <a:ext uri="{FF2B5EF4-FFF2-40B4-BE49-F238E27FC236}">
                <a16:creationId xmlns:a16="http://schemas.microsoft.com/office/drawing/2014/main" id="{6648EDDC-A854-70B6-1DDD-4D31F38EB91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77712814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af0cde7624_3_8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af0cde7624_3_8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7" r:id="rId9"/>
    <p:sldLayoutId id="2147483658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7.svg"/><Relationship Id="rId4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4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2.png"/><Relationship Id="rId7" Type="http://schemas.openxmlformats.org/officeDocument/2006/relationships/image" Target="../media/image18.sv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16.svg"/><Relationship Id="rId4" Type="http://schemas.openxmlformats.org/officeDocument/2006/relationships/image" Target="../media/image15.png"/><Relationship Id="rId9" Type="http://schemas.openxmlformats.org/officeDocument/2006/relationships/image" Target="../media/image20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/>
        </p:nvSpPr>
        <p:spPr>
          <a:xfrm>
            <a:off x="382050" y="3177125"/>
            <a:ext cx="6817800" cy="8571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R" sz="1900" dirty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Errol Ramírez Céspedes</a:t>
            </a:r>
            <a:endParaRPr sz="1900" dirty="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 dirty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Prof. Fabricación Digital</a:t>
            </a:r>
            <a:endParaRPr sz="1900" dirty="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5" name="Google Shape;55;p13"/>
          <p:cNvSpPr txBox="1"/>
          <p:nvPr/>
        </p:nvSpPr>
        <p:spPr>
          <a:xfrm>
            <a:off x="382050" y="2635750"/>
            <a:ext cx="7079700" cy="67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R" sz="2800" b="1" dirty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TIPOS DE IMÁGENES</a:t>
            </a:r>
            <a:endParaRPr sz="2800" b="1" dirty="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0" name="Google Shape;60;p14"/>
          <p:cNvCxnSpPr/>
          <p:nvPr/>
        </p:nvCxnSpPr>
        <p:spPr>
          <a:xfrm>
            <a:off x="382050" y="762850"/>
            <a:ext cx="8379900" cy="0"/>
          </a:xfrm>
          <a:prstGeom prst="straightConnector1">
            <a:avLst/>
          </a:prstGeom>
          <a:noFill/>
          <a:ln w="76200" cap="flat" cmpd="sng">
            <a:solidFill>
              <a:srgbClr val="595959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61" name="Google Shape;61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241800" y="4148375"/>
            <a:ext cx="428275" cy="830075"/>
          </a:xfrm>
          <a:prstGeom prst="rect">
            <a:avLst/>
          </a:prstGeom>
          <a:noFill/>
          <a:ln>
            <a:noFill/>
          </a:ln>
        </p:spPr>
      </p:pic>
      <p:sp>
        <p:nvSpPr>
          <p:cNvPr id="62" name="Google Shape;62;p14"/>
          <p:cNvSpPr txBox="1"/>
          <p:nvPr/>
        </p:nvSpPr>
        <p:spPr>
          <a:xfrm>
            <a:off x="254275" y="90100"/>
            <a:ext cx="6854100" cy="6624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2700" b="1" dirty="0">
                <a:solidFill>
                  <a:srgbClr val="595959"/>
                </a:solidFill>
                <a:latin typeface="Montserrat"/>
                <a:ea typeface="Montserrat"/>
                <a:cs typeface="Montserrat"/>
                <a:sym typeface="Montserrat"/>
              </a:rPr>
              <a:t>PROPÓSITO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6AFD6E8B-2910-9FCE-2314-EB57D8B2477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CR" sz="2000" dirty="0">
                <a:solidFill>
                  <a:schemeClr val="tx1"/>
                </a:solidFill>
                <a:latin typeface="Bahnschrift Light" panose="020B0502040204020203" pitchFamily="34" charset="0"/>
              </a:rPr>
              <a:t>Reconocer los tipos de archivos que se pueden trabajar y sus diferencias (SVG, DXF, AI, JPG, PNG).</a:t>
            </a:r>
          </a:p>
          <a:p>
            <a:r>
              <a:rPr lang="es-CR" sz="2000" dirty="0">
                <a:solidFill>
                  <a:schemeClr val="tx1"/>
                </a:solidFill>
                <a:latin typeface="Bahnschrift Light" panose="020B0502040204020203" pitchFamily="34" charset="0"/>
              </a:rPr>
              <a:t>Conocer las aplicaciones, para qué sirven, cómo se relacionan en el proceso y la comunicación entren ellas.</a:t>
            </a:r>
          </a:p>
          <a:p>
            <a:r>
              <a:rPr lang="es-CR" sz="2000" dirty="0">
                <a:solidFill>
                  <a:schemeClr val="tx1"/>
                </a:solidFill>
                <a:latin typeface="Bahnschrift Light" panose="020B0502040204020203" pitchFamily="34" charset="0"/>
              </a:rPr>
              <a:t>Entender la diferencia entre software CAM (</a:t>
            </a:r>
            <a:r>
              <a:rPr lang="es-ES" sz="2000" dirty="0" err="1">
                <a:solidFill>
                  <a:schemeClr val="tx1"/>
                </a:solidFill>
                <a:latin typeface="Bahnschrift Light" panose="020B0502040204020203" pitchFamily="34" charset="0"/>
              </a:rPr>
              <a:t>computer-aided</a:t>
            </a:r>
            <a:r>
              <a:rPr lang="es-ES" sz="2000" dirty="0">
                <a:solidFill>
                  <a:schemeClr val="tx1"/>
                </a:solidFill>
                <a:latin typeface="Bahnschrift Light" panose="020B0502040204020203" pitchFamily="34" charset="0"/>
              </a:rPr>
              <a:t> </a:t>
            </a:r>
            <a:r>
              <a:rPr lang="es-ES" sz="2000" dirty="0" err="1">
                <a:solidFill>
                  <a:schemeClr val="tx1"/>
                </a:solidFill>
                <a:latin typeface="Bahnschrift Light" panose="020B0502040204020203" pitchFamily="34" charset="0"/>
              </a:rPr>
              <a:t>manufacturing</a:t>
            </a:r>
            <a:r>
              <a:rPr lang="es-ES" sz="2000" dirty="0">
                <a:solidFill>
                  <a:schemeClr val="tx1"/>
                </a:solidFill>
                <a:latin typeface="Bahnschrift Light" panose="020B0502040204020203" pitchFamily="34" charset="0"/>
              </a:rPr>
              <a:t>)</a:t>
            </a:r>
            <a:r>
              <a:rPr lang="es-CR" sz="2000" dirty="0">
                <a:solidFill>
                  <a:schemeClr val="tx1"/>
                </a:solidFill>
                <a:latin typeface="Bahnschrift Light" panose="020B0502040204020203" pitchFamily="34" charset="0"/>
              </a:rPr>
              <a:t> y vectorial.</a:t>
            </a:r>
          </a:p>
          <a:p>
            <a:r>
              <a:rPr lang="es-CR" sz="2000" dirty="0">
                <a:solidFill>
                  <a:schemeClr val="tx1"/>
                </a:solidFill>
                <a:latin typeface="Bahnschrift Light" panose="020B0502040204020203" pitchFamily="34" charset="0"/>
              </a:rPr>
              <a:t>Aprender a preparar el diseño para maximizar el uso de este y reducir al máximo el desperdicio y los tiempos de máquina.</a:t>
            </a:r>
            <a:endParaRPr lang="en-US" sz="2000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>
          <a:extLst>
            <a:ext uri="{FF2B5EF4-FFF2-40B4-BE49-F238E27FC236}">
              <a16:creationId xmlns:a16="http://schemas.microsoft.com/office/drawing/2014/main" id="{C493F862-8978-5055-EEDB-BC276B9DAF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0" name="Google Shape;60;p14">
            <a:extLst>
              <a:ext uri="{FF2B5EF4-FFF2-40B4-BE49-F238E27FC236}">
                <a16:creationId xmlns:a16="http://schemas.microsoft.com/office/drawing/2014/main" id="{42AAF5DF-86E9-4AA2-C6BB-63CB62FD5ADA}"/>
              </a:ext>
            </a:extLst>
          </p:cNvPr>
          <p:cNvCxnSpPr/>
          <p:nvPr/>
        </p:nvCxnSpPr>
        <p:spPr>
          <a:xfrm>
            <a:off x="382050" y="762850"/>
            <a:ext cx="8379900" cy="0"/>
          </a:xfrm>
          <a:prstGeom prst="straightConnector1">
            <a:avLst/>
          </a:prstGeom>
          <a:noFill/>
          <a:ln w="76200" cap="flat" cmpd="sng">
            <a:solidFill>
              <a:srgbClr val="595959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61" name="Google Shape;61;p14">
            <a:extLst>
              <a:ext uri="{FF2B5EF4-FFF2-40B4-BE49-F238E27FC236}">
                <a16:creationId xmlns:a16="http://schemas.microsoft.com/office/drawing/2014/main" id="{1CEE2120-63AB-188F-6C57-461F9FA26CA1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241800" y="4148375"/>
            <a:ext cx="428275" cy="830075"/>
          </a:xfrm>
          <a:prstGeom prst="rect">
            <a:avLst/>
          </a:prstGeom>
          <a:noFill/>
          <a:ln>
            <a:noFill/>
          </a:ln>
        </p:spPr>
      </p:pic>
      <p:sp>
        <p:nvSpPr>
          <p:cNvPr id="62" name="Google Shape;62;p14">
            <a:extLst>
              <a:ext uri="{FF2B5EF4-FFF2-40B4-BE49-F238E27FC236}">
                <a16:creationId xmlns:a16="http://schemas.microsoft.com/office/drawing/2014/main" id="{95564B58-A85B-0F43-A8E2-214F1CA04AAD}"/>
              </a:ext>
            </a:extLst>
          </p:cNvPr>
          <p:cNvSpPr txBox="1"/>
          <p:nvPr/>
        </p:nvSpPr>
        <p:spPr>
          <a:xfrm>
            <a:off x="254274" y="90100"/>
            <a:ext cx="8507675" cy="6093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s-CR" sz="2400" b="1" dirty="0">
                <a:solidFill>
                  <a:srgbClr val="595959"/>
                </a:solidFill>
                <a:latin typeface="Montserrat"/>
                <a:ea typeface="Montserrat"/>
                <a:cs typeface="Montserrat"/>
                <a:sym typeface="Montserrat"/>
              </a:rPr>
              <a:t>IMÁGENES DE MAPA DE BITS</a:t>
            </a:r>
            <a:endParaRPr lang="en-US" sz="2400" b="1" dirty="0">
              <a:solidFill>
                <a:srgbClr val="595959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2E35AFE7-2DB8-AEC1-265C-5DD52C591BD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CR" sz="1600" dirty="0">
                <a:solidFill>
                  <a:schemeClr val="tx1"/>
                </a:solidFill>
              </a:rPr>
              <a:t>También conocida como imagen rasterizada, </a:t>
            </a:r>
            <a:r>
              <a:rPr lang="es-ES" sz="1600" dirty="0">
                <a:solidFill>
                  <a:schemeClr val="tx1"/>
                </a:solidFill>
              </a:rPr>
              <a:t>está compuesta por pequeños cuadros de color llamados pixeles.</a:t>
            </a:r>
          </a:p>
          <a:p>
            <a:r>
              <a:rPr lang="es-ES" sz="1600" dirty="0">
                <a:solidFill>
                  <a:schemeClr val="tx1"/>
                </a:solidFill>
              </a:rPr>
              <a:t>Cada píxel tiene un color específico.</a:t>
            </a:r>
          </a:p>
          <a:p>
            <a:r>
              <a:rPr lang="es-ES" sz="1600" dirty="0">
                <a:solidFill>
                  <a:schemeClr val="tx1"/>
                </a:solidFill>
              </a:rPr>
              <a:t>El tamaño del archivo depende de su resolución.</a:t>
            </a:r>
          </a:p>
          <a:p>
            <a:r>
              <a:rPr lang="es-ES" sz="1600" dirty="0">
                <a:solidFill>
                  <a:schemeClr val="tx1"/>
                </a:solidFill>
              </a:rPr>
              <a:t>Al ampliarla mucho, se ve pixelada o borrosa.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B5152FE-9E8D-BCB3-9785-F71DFB86526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43568" y="1081715"/>
            <a:ext cx="3047593" cy="32355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3007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>
          <a:extLst>
            <a:ext uri="{FF2B5EF4-FFF2-40B4-BE49-F238E27FC236}">
              <a16:creationId xmlns:a16="http://schemas.microsoft.com/office/drawing/2014/main" id="{044BBADF-DD6B-B0EE-D6CB-6FD1AC682A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0" name="Google Shape;60;p14">
            <a:extLst>
              <a:ext uri="{FF2B5EF4-FFF2-40B4-BE49-F238E27FC236}">
                <a16:creationId xmlns:a16="http://schemas.microsoft.com/office/drawing/2014/main" id="{DB65FF6E-EA39-BA73-D442-7552E9C8D945}"/>
              </a:ext>
            </a:extLst>
          </p:cNvPr>
          <p:cNvCxnSpPr/>
          <p:nvPr/>
        </p:nvCxnSpPr>
        <p:spPr>
          <a:xfrm>
            <a:off x="382050" y="762850"/>
            <a:ext cx="8379900" cy="0"/>
          </a:xfrm>
          <a:prstGeom prst="straightConnector1">
            <a:avLst/>
          </a:prstGeom>
          <a:noFill/>
          <a:ln w="76200" cap="flat" cmpd="sng">
            <a:solidFill>
              <a:srgbClr val="595959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61" name="Google Shape;61;p14">
            <a:extLst>
              <a:ext uri="{FF2B5EF4-FFF2-40B4-BE49-F238E27FC236}">
                <a16:creationId xmlns:a16="http://schemas.microsoft.com/office/drawing/2014/main" id="{DD4449C9-F9AB-C0F0-F5F2-DFFF06F25ECA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241800" y="4148375"/>
            <a:ext cx="428275" cy="830075"/>
          </a:xfrm>
          <a:prstGeom prst="rect">
            <a:avLst/>
          </a:prstGeom>
          <a:noFill/>
          <a:ln>
            <a:noFill/>
          </a:ln>
        </p:spPr>
      </p:pic>
      <p:sp>
        <p:nvSpPr>
          <p:cNvPr id="62" name="Google Shape;62;p14">
            <a:extLst>
              <a:ext uri="{FF2B5EF4-FFF2-40B4-BE49-F238E27FC236}">
                <a16:creationId xmlns:a16="http://schemas.microsoft.com/office/drawing/2014/main" id="{A4F8E7A0-C0FF-5525-B647-6B145EC89FF5}"/>
              </a:ext>
            </a:extLst>
          </p:cNvPr>
          <p:cNvSpPr txBox="1"/>
          <p:nvPr/>
        </p:nvSpPr>
        <p:spPr>
          <a:xfrm>
            <a:off x="254274" y="90100"/>
            <a:ext cx="8507675" cy="6093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s-CR" sz="2400" b="1" dirty="0">
                <a:solidFill>
                  <a:srgbClr val="595959"/>
                </a:solidFill>
                <a:latin typeface="Montserrat"/>
                <a:ea typeface="Montserrat"/>
                <a:cs typeface="Montserrat"/>
                <a:sym typeface="Montserrat"/>
              </a:rPr>
              <a:t>VECTORES</a:t>
            </a:r>
            <a:endParaRPr lang="en-US" sz="2400" b="1" dirty="0">
              <a:solidFill>
                <a:srgbClr val="595959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C5A75EBC-2947-2B48-599B-F26E7C657E8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sz="1600" dirty="0">
                <a:solidFill>
                  <a:schemeClr val="tx1"/>
                </a:solidFill>
              </a:rPr>
              <a:t>Es una imagen compuesta por formas matemáticas: puntos, líneas, curvas y polígonos. En esencia, se dibuja con fórmulas y no con píxeles.</a:t>
            </a:r>
          </a:p>
          <a:p>
            <a:r>
              <a:rPr lang="es-ES" sz="1600" dirty="0">
                <a:solidFill>
                  <a:schemeClr val="tx1"/>
                </a:solidFill>
              </a:rPr>
              <a:t>Es editable, se pueden mover nodos, cambiar formas, colores, trazos.</a:t>
            </a:r>
          </a:p>
          <a:p>
            <a:r>
              <a:rPr lang="es-ES" sz="1600" dirty="0">
                <a:solidFill>
                  <a:schemeClr val="tx1"/>
                </a:solidFill>
              </a:rPr>
              <a:t>Es muy liviana.</a:t>
            </a:r>
          </a:p>
          <a:p>
            <a:r>
              <a:rPr lang="es-ES" sz="1600" dirty="0">
                <a:solidFill>
                  <a:schemeClr val="tx1"/>
                </a:solidFill>
              </a:rPr>
              <a:t>Se puede escalar infinitamente sin perder calidad.</a:t>
            </a:r>
          </a:p>
          <a:p>
            <a:r>
              <a:rPr lang="es-ES" sz="1600" dirty="0">
                <a:solidFill>
                  <a:schemeClr val="tx1"/>
                </a:solidFill>
              </a:rPr>
              <a:t>Es la más recomendable para procesos fabricación digital entre otros.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70B1870-6F21-037F-1A43-BD5157BE6CD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43568" y="1081715"/>
            <a:ext cx="3047593" cy="32537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76728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>
          <a:extLst>
            <a:ext uri="{FF2B5EF4-FFF2-40B4-BE49-F238E27FC236}">
              <a16:creationId xmlns:a16="http://schemas.microsoft.com/office/drawing/2014/main" id="{451CA2FA-6A15-70BB-D973-5A80FAF000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0" name="Google Shape;60;p14">
            <a:extLst>
              <a:ext uri="{FF2B5EF4-FFF2-40B4-BE49-F238E27FC236}">
                <a16:creationId xmlns:a16="http://schemas.microsoft.com/office/drawing/2014/main" id="{E7963CC8-174B-BE72-BF17-0D231B83EBD0}"/>
              </a:ext>
            </a:extLst>
          </p:cNvPr>
          <p:cNvCxnSpPr/>
          <p:nvPr/>
        </p:nvCxnSpPr>
        <p:spPr>
          <a:xfrm>
            <a:off x="382050" y="762850"/>
            <a:ext cx="8379900" cy="0"/>
          </a:xfrm>
          <a:prstGeom prst="straightConnector1">
            <a:avLst/>
          </a:prstGeom>
          <a:noFill/>
          <a:ln w="76200" cap="flat" cmpd="sng">
            <a:solidFill>
              <a:srgbClr val="595959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2" name="Google Shape;62;p14">
            <a:extLst>
              <a:ext uri="{FF2B5EF4-FFF2-40B4-BE49-F238E27FC236}">
                <a16:creationId xmlns:a16="http://schemas.microsoft.com/office/drawing/2014/main" id="{1EB4AF99-D4E7-BD0B-A960-2270163A2514}"/>
              </a:ext>
            </a:extLst>
          </p:cNvPr>
          <p:cNvSpPr txBox="1"/>
          <p:nvPr/>
        </p:nvSpPr>
        <p:spPr>
          <a:xfrm>
            <a:off x="254275" y="90100"/>
            <a:ext cx="8147712" cy="6624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s-CR" sz="2700" b="1" dirty="0">
                <a:solidFill>
                  <a:srgbClr val="595959"/>
                </a:solidFill>
                <a:latin typeface="Montserrat"/>
                <a:ea typeface="Montserrat"/>
                <a:cs typeface="Montserrat"/>
                <a:sym typeface="Montserrat"/>
              </a:rPr>
              <a:t>TIPOS DE IMAGEN</a:t>
            </a:r>
            <a:endParaRPr lang="en-US" sz="2700" b="1" dirty="0">
              <a:solidFill>
                <a:srgbClr val="595959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5" name="Picture 4" descr="A white rectangular box with black text&#10;&#10;AI-generated content may be incorrect.">
            <a:extLst>
              <a:ext uri="{FF2B5EF4-FFF2-40B4-BE49-F238E27FC236}">
                <a16:creationId xmlns:a16="http://schemas.microsoft.com/office/drawing/2014/main" id="{01CE82FC-988B-EBDF-72CC-1D949A92F6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2050" y="884058"/>
            <a:ext cx="7855046" cy="3951529"/>
          </a:xfrm>
          <a:prstGeom prst="rect">
            <a:avLst/>
          </a:prstGeom>
        </p:spPr>
      </p:pic>
      <p:pic>
        <p:nvPicPr>
          <p:cNvPr id="61" name="Google Shape;61;p14">
            <a:extLst>
              <a:ext uri="{FF2B5EF4-FFF2-40B4-BE49-F238E27FC236}">
                <a16:creationId xmlns:a16="http://schemas.microsoft.com/office/drawing/2014/main" id="{B4706DEF-E431-04A6-5F05-5854BC124C7E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241800" y="4148375"/>
            <a:ext cx="428275" cy="83007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8710046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53">
          <a:extLst>
            <a:ext uri="{FF2B5EF4-FFF2-40B4-BE49-F238E27FC236}">
              <a16:creationId xmlns:a16="http://schemas.microsoft.com/office/drawing/2014/main" id="{DF03571A-67F2-07C8-D75E-36E7988389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>
            <a:extLst>
              <a:ext uri="{FF2B5EF4-FFF2-40B4-BE49-F238E27FC236}">
                <a16:creationId xmlns:a16="http://schemas.microsoft.com/office/drawing/2014/main" id="{1340CC96-1D1C-44F8-416E-3D7C9BBCFC1D}"/>
              </a:ext>
            </a:extLst>
          </p:cNvPr>
          <p:cNvSpPr txBox="1"/>
          <p:nvPr/>
        </p:nvSpPr>
        <p:spPr>
          <a:xfrm>
            <a:off x="382050" y="3177125"/>
            <a:ext cx="6817800" cy="8571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R" sz="1900" dirty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Errol Ramírez Céspedes</a:t>
            </a:r>
            <a:endParaRPr sz="1900" dirty="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 dirty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Prof. Fabricación Digital</a:t>
            </a:r>
            <a:endParaRPr sz="1900" dirty="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5" name="Google Shape;55;p13">
            <a:extLst>
              <a:ext uri="{FF2B5EF4-FFF2-40B4-BE49-F238E27FC236}">
                <a16:creationId xmlns:a16="http://schemas.microsoft.com/office/drawing/2014/main" id="{0BB3919D-481C-DEC4-D0B1-A14DDC71CB70}"/>
              </a:ext>
            </a:extLst>
          </p:cNvPr>
          <p:cNvSpPr txBox="1"/>
          <p:nvPr/>
        </p:nvSpPr>
        <p:spPr>
          <a:xfrm>
            <a:off x="382050" y="2635750"/>
            <a:ext cx="7079700" cy="67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R" sz="2800" b="1" dirty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Software CAM y vectoriales</a:t>
            </a:r>
            <a:endParaRPr sz="2800" b="1" dirty="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  <p:extLst>
      <p:ext uri="{BB962C8B-B14F-4D97-AF65-F5344CB8AC3E}">
        <p14:creationId xmlns:p14="http://schemas.microsoft.com/office/powerpoint/2010/main" val="28051438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>
          <a:extLst>
            <a:ext uri="{FF2B5EF4-FFF2-40B4-BE49-F238E27FC236}">
              <a16:creationId xmlns:a16="http://schemas.microsoft.com/office/drawing/2014/main" id="{8D93C6DE-BDF4-E16B-9EE0-571953F5DC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0" name="Google Shape;60;p14">
            <a:extLst>
              <a:ext uri="{FF2B5EF4-FFF2-40B4-BE49-F238E27FC236}">
                <a16:creationId xmlns:a16="http://schemas.microsoft.com/office/drawing/2014/main" id="{CD584561-3876-CE06-7472-6C1E6433E716}"/>
              </a:ext>
            </a:extLst>
          </p:cNvPr>
          <p:cNvCxnSpPr/>
          <p:nvPr/>
        </p:nvCxnSpPr>
        <p:spPr>
          <a:xfrm>
            <a:off x="382050" y="762850"/>
            <a:ext cx="8379900" cy="0"/>
          </a:xfrm>
          <a:prstGeom prst="straightConnector1">
            <a:avLst/>
          </a:prstGeom>
          <a:noFill/>
          <a:ln w="76200" cap="flat" cmpd="sng">
            <a:solidFill>
              <a:srgbClr val="595959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61" name="Google Shape;61;p14">
            <a:extLst>
              <a:ext uri="{FF2B5EF4-FFF2-40B4-BE49-F238E27FC236}">
                <a16:creationId xmlns:a16="http://schemas.microsoft.com/office/drawing/2014/main" id="{87728626-291F-C0CC-E8F9-D296BE75E8F2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241800" y="4148375"/>
            <a:ext cx="428275" cy="830075"/>
          </a:xfrm>
          <a:prstGeom prst="rect">
            <a:avLst/>
          </a:prstGeom>
          <a:noFill/>
          <a:ln>
            <a:noFill/>
          </a:ln>
        </p:spPr>
      </p:pic>
      <p:sp>
        <p:nvSpPr>
          <p:cNvPr id="62" name="Google Shape;62;p14">
            <a:extLst>
              <a:ext uri="{FF2B5EF4-FFF2-40B4-BE49-F238E27FC236}">
                <a16:creationId xmlns:a16="http://schemas.microsoft.com/office/drawing/2014/main" id="{11965ECC-9B9B-80CA-F360-E88027E8963F}"/>
              </a:ext>
            </a:extLst>
          </p:cNvPr>
          <p:cNvSpPr txBox="1"/>
          <p:nvPr/>
        </p:nvSpPr>
        <p:spPr>
          <a:xfrm>
            <a:off x="254275" y="90100"/>
            <a:ext cx="8147712" cy="6624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2700" b="1" dirty="0">
                <a:solidFill>
                  <a:srgbClr val="595959"/>
                </a:solidFill>
                <a:latin typeface="Montserrat"/>
                <a:ea typeface="Montserrat"/>
                <a:cs typeface="Montserrat"/>
                <a:sym typeface="Montserrat"/>
              </a:rPr>
              <a:t>SOFTWARE VECTORIAL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501D4F7-F6B4-D4AD-8FCD-23CF5A5225E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sz="2400" dirty="0">
                <a:solidFill>
                  <a:schemeClr val="tx1"/>
                </a:solidFill>
                <a:latin typeface="Bahnschrift Light" panose="020B0502040204020203" pitchFamily="34" charset="0"/>
              </a:rPr>
              <a:t>Sirve para crear diseños vectoriales, basados en puntos y líneas conectados por puntos (llamados nodos). Estos vectores definen formas, curvas y colores de una manera escalable y editable sin perder calidad.</a:t>
            </a:r>
          </a:p>
          <a:p>
            <a:r>
              <a:rPr lang="es-ES" sz="2400" dirty="0">
                <a:solidFill>
                  <a:schemeClr val="tx1"/>
                </a:solidFill>
                <a:latin typeface="Bahnschrift Light" panose="020B0502040204020203" pitchFamily="34" charset="0"/>
              </a:rPr>
              <a:t>Es compatible con el software CAM.</a:t>
            </a:r>
          </a:p>
          <a:p>
            <a:pPr marL="114300" indent="0">
              <a:buNone/>
            </a:pPr>
            <a:endParaRPr lang="es-ES" sz="2400" dirty="0">
              <a:solidFill>
                <a:schemeClr val="tx1"/>
              </a:solidFill>
              <a:latin typeface="Bahnschrift Ligh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128209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>
          <a:extLst>
            <a:ext uri="{FF2B5EF4-FFF2-40B4-BE49-F238E27FC236}">
              <a16:creationId xmlns:a16="http://schemas.microsoft.com/office/drawing/2014/main" id="{EE73A163-CA1D-5051-E39D-59549699A5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0" name="Google Shape;60;p14">
            <a:extLst>
              <a:ext uri="{FF2B5EF4-FFF2-40B4-BE49-F238E27FC236}">
                <a16:creationId xmlns:a16="http://schemas.microsoft.com/office/drawing/2014/main" id="{958C7412-20BF-DBEB-0CCA-F3CBF6193DFA}"/>
              </a:ext>
            </a:extLst>
          </p:cNvPr>
          <p:cNvCxnSpPr/>
          <p:nvPr/>
        </p:nvCxnSpPr>
        <p:spPr>
          <a:xfrm>
            <a:off x="382050" y="762850"/>
            <a:ext cx="8379900" cy="0"/>
          </a:xfrm>
          <a:prstGeom prst="straightConnector1">
            <a:avLst/>
          </a:prstGeom>
          <a:noFill/>
          <a:ln w="76200" cap="flat" cmpd="sng">
            <a:solidFill>
              <a:srgbClr val="595959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61" name="Google Shape;61;p14">
            <a:extLst>
              <a:ext uri="{FF2B5EF4-FFF2-40B4-BE49-F238E27FC236}">
                <a16:creationId xmlns:a16="http://schemas.microsoft.com/office/drawing/2014/main" id="{34748362-B4EF-1E5E-5F83-872DDE4ED88E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241800" y="4148375"/>
            <a:ext cx="428275" cy="830075"/>
          </a:xfrm>
          <a:prstGeom prst="rect">
            <a:avLst/>
          </a:prstGeom>
          <a:noFill/>
          <a:ln>
            <a:noFill/>
          </a:ln>
        </p:spPr>
      </p:pic>
      <p:sp>
        <p:nvSpPr>
          <p:cNvPr id="62" name="Google Shape;62;p14">
            <a:extLst>
              <a:ext uri="{FF2B5EF4-FFF2-40B4-BE49-F238E27FC236}">
                <a16:creationId xmlns:a16="http://schemas.microsoft.com/office/drawing/2014/main" id="{58A23C62-C65E-3814-8E5C-DD89FED7C56A}"/>
              </a:ext>
            </a:extLst>
          </p:cNvPr>
          <p:cNvSpPr txBox="1"/>
          <p:nvPr/>
        </p:nvSpPr>
        <p:spPr>
          <a:xfrm>
            <a:off x="254275" y="90100"/>
            <a:ext cx="8147712" cy="6093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2400" b="1" dirty="0">
                <a:solidFill>
                  <a:srgbClr val="595959"/>
                </a:solidFill>
                <a:latin typeface="Montserrat"/>
                <a:ea typeface="Montserrat"/>
                <a:cs typeface="Montserrat"/>
                <a:sym typeface="Montserrat"/>
              </a:rPr>
              <a:t>SOFTWARE CAM: Computer-aided </a:t>
            </a:r>
            <a:r>
              <a:rPr lang="en-US" sz="2400" b="1" dirty="0" err="1">
                <a:solidFill>
                  <a:srgbClr val="595959"/>
                </a:solidFill>
                <a:latin typeface="Montserrat"/>
                <a:ea typeface="Montserrat"/>
                <a:cs typeface="Montserrat"/>
                <a:sym typeface="Montserrat"/>
              </a:rPr>
              <a:t>manufactoring</a:t>
            </a:r>
            <a:endParaRPr lang="en-US" sz="2400" b="1" dirty="0">
              <a:solidFill>
                <a:srgbClr val="595959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ADF913E4-3A77-5EC3-AA55-ED956B6B025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sz="2000" dirty="0">
                <a:solidFill>
                  <a:schemeClr val="tx1"/>
                </a:solidFill>
                <a:latin typeface="Bahnschrift Light" panose="020B0502040204020203" pitchFamily="34" charset="0"/>
              </a:rPr>
              <a:t>El software CAM traduce el diseño digital en instrucciones que una máquina CNC láser puede entender y ejecutar.</a:t>
            </a:r>
          </a:p>
          <a:p>
            <a:pPr marL="114300" indent="0">
              <a:buNone/>
            </a:pPr>
            <a:endParaRPr lang="es-ES" sz="2000" dirty="0">
              <a:solidFill>
                <a:schemeClr val="tx1"/>
              </a:solidFill>
              <a:latin typeface="Bahnschrift Light" panose="020B0502040204020203" pitchFamily="34" charset="0"/>
            </a:endParaRPr>
          </a:p>
          <a:p>
            <a:r>
              <a:rPr lang="es-ES" sz="2000" dirty="0">
                <a:solidFill>
                  <a:schemeClr val="tx1"/>
                </a:solidFill>
                <a:latin typeface="Bahnschrift Light" panose="020B0502040204020203" pitchFamily="34" charset="0"/>
              </a:rPr>
              <a:t>Genera trayectorias: Son los caminos que deben seguir los brazos mecánicos.</a:t>
            </a:r>
          </a:p>
          <a:p>
            <a:r>
              <a:rPr lang="es-ES" sz="2000" dirty="0">
                <a:solidFill>
                  <a:schemeClr val="tx1"/>
                </a:solidFill>
                <a:latin typeface="Bahnschrift Light" panose="020B0502040204020203" pitchFamily="34" charset="0"/>
              </a:rPr>
              <a:t>Define parámetros de fabricación: Velocidad, potencia, número de pasadas, orden y otras órdenes personalizables.</a:t>
            </a:r>
          </a:p>
          <a:p>
            <a:r>
              <a:rPr lang="es-ES" sz="2000" dirty="0">
                <a:solidFill>
                  <a:schemeClr val="tx1"/>
                </a:solidFill>
                <a:latin typeface="Bahnschrift Light" panose="020B0502040204020203" pitchFamily="34" charset="0"/>
              </a:rPr>
              <a:t>Exportar G-</a:t>
            </a:r>
            <a:r>
              <a:rPr lang="es-ES" sz="2000" dirty="0" err="1">
                <a:solidFill>
                  <a:schemeClr val="tx1"/>
                </a:solidFill>
                <a:latin typeface="Bahnschrift Light" panose="020B0502040204020203" pitchFamily="34" charset="0"/>
              </a:rPr>
              <a:t>code</a:t>
            </a:r>
            <a:r>
              <a:rPr lang="es-ES" sz="2000" dirty="0">
                <a:solidFill>
                  <a:schemeClr val="tx1"/>
                </a:solidFill>
                <a:latin typeface="Bahnschrift Light" panose="020B0502040204020203" pitchFamily="34" charset="0"/>
              </a:rPr>
              <a:t>: Es un archivo de instrucciones, que es el lenguaje que entienden muchas máquinas CNC.</a:t>
            </a:r>
          </a:p>
          <a:p>
            <a:endParaRPr lang="en-US" sz="2000" dirty="0">
              <a:solidFill>
                <a:schemeClr val="tx1"/>
              </a:solidFill>
            </a:endParaRPr>
          </a:p>
          <a:p>
            <a:endParaRPr lang="es-ES" sz="2000" dirty="0">
              <a:solidFill>
                <a:schemeClr val="tx1"/>
              </a:solidFill>
              <a:latin typeface="Bahnschrift Light" panose="020B0502040204020203" pitchFamily="34" charset="0"/>
            </a:endParaRPr>
          </a:p>
          <a:p>
            <a:endParaRPr lang="es-ES" sz="2000" dirty="0">
              <a:solidFill>
                <a:schemeClr val="tx1"/>
              </a:solidFill>
              <a:latin typeface="Bahnschrift Ligh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9592839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>
          <a:extLst>
            <a:ext uri="{FF2B5EF4-FFF2-40B4-BE49-F238E27FC236}">
              <a16:creationId xmlns:a16="http://schemas.microsoft.com/office/drawing/2014/main" id="{C21C95C1-DAA9-F9F0-31B8-94B3E61B7F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0" name="Google Shape;60;p14">
            <a:extLst>
              <a:ext uri="{FF2B5EF4-FFF2-40B4-BE49-F238E27FC236}">
                <a16:creationId xmlns:a16="http://schemas.microsoft.com/office/drawing/2014/main" id="{57EF75A2-9495-DD23-28EC-99008B02A809}"/>
              </a:ext>
            </a:extLst>
          </p:cNvPr>
          <p:cNvCxnSpPr/>
          <p:nvPr/>
        </p:nvCxnSpPr>
        <p:spPr>
          <a:xfrm>
            <a:off x="382050" y="762850"/>
            <a:ext cx="8379900" cy="0"/>
          </a:xfrm>
          <a:prstGeom prst="straightConnector1">
            <a:avLst/>
          </a:prstGeom>
          <a:noFill/>
          <a:ln w="76200" cap="flat" cmpd="sng">
            <a:solidFill>
              <a:srgbClr val="595959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61" name="Google Shape;61;p14">
            <a:extLst>
              <a:ext uri="{FF2B5EF4-FFF2-40B4-BE49-F238E27FC236}">
                <a16:creationId xmlns:a16="http://schemas.microsoft.com/office/drawing/2014/main" id="{5289C74A-64DC-88BA-DC8F-19422E91D5A7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241800" y="4148375"/>
            <a:ext cx="428275" cy="830075"/>
          </a:xfrm>
          <a:prstGeom prst="rect">
            <a:avLst/>
          </a:prstGeom>
          <a:noFill/>
          <a:ln>
            <a:noFill/>
          </a:ln>
        </p:spPr>
      </p:pic>
      <p:sp>
        <p:nvSpPr>
          <p:cNvPr id="62" name="Google Shape;62;p14">
            <a:extLst>
              <a:ext uri="{FF2B5EF4-FFF2-40B4-BE49-F238E27FC236}">
                <a16:creationId xmlns:a16="http://schemas.microsoft.com/office/drawing/2014/main" id="{154DA86B-8586-E2D6-50BD-AA22475ECF3E}"/>
              </a:ext>
            </a:extLst>
          </p:cNvPr>
          <p:cNvSpPr txBox="1"/>
          <p:nvPr/>
        </p:nvSpPr>
        <p:spPr>
          <a:xfrm>
            <a:off x="254274" y="90100"/>
            <a:ext cx="8507675" cy="6093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s-ES" sz="2400" b="1" dirty="0">
                <a:solidFill>
                  <a:srgbClr val="595959"/>
                </a:solidFill>
                <a:latin typeface="Montserrat"/>
                <a:ea typeface="Montserrat"/>
                <a:cs typeface="Montserrat"/>
                <a:sym typeface="Montserrat"/>
              </a:rPr>
              <a:t>VECTORIAL: ILUSTRADOR</a:t>
            </a:r>
            <a:endParaRPr lang="en-US" sz="2400" b="1" dirty="0">
              <a:solidFill>
                <a:srgbClr val="595959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22BF159-1D64-E3A7-438B-760B22DE8E8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sz="1600" dirty="0">
                <a:solidFill>
                  <a:schemeClr val="tx1"/>
                </a:solidFill>
                <a:latin typeface="Bahnschrift Light" panose="020B0502040204020203" pitchFamily="34" charset="0"/>
              </a:rPr>
              <a:t>Tipo de aplicación: Vectorización.</a:t>
            </a:r>
          </a:p>
          <a:p>
            <a:r>
              <a:rPr lang="es-ES" sz="1600" dirty="0">
                <a:solidFill>
                  <a:schemeClr val="tx1"/>
                </a:solidFill>
                <a:latin typeface="Bahnschrift Light" panose="020B0502040204020203" pitchFamily="34" charset="0"/>
              </a:rPr>
              <a:t>Mediante licencia.</a:t>
            </a:r>
          </a:p>
          <a:p>
            <a:r>
              <a:rPr lang="es-ES" sz="1600" dirty="0">
                <a:solidFill>
                  <a:schemeClr val="tx1"/>
                </a:solidFill>
                <a:latin typeface="Bahnschrift Light" panose="020B0502040204020203" pitchFamily="34" charset="0"/>
              </a:rPr>
              <a:t>Es poderosa y permite crear muchos diseños de forma sencilla.</a:t>
            </a:r>
          </a:p>
          <a:p>
            <a:r>
              <a:rPr lang="es-ES" sz="1600" dirty="0">
                <a:solidFill>
                  <a:schemeClr val="tx1"/>
                </a:solidFill>
                <a:latin typeface="Bahnschrift Light" panose="020B0502040204020203" pitchFamily="34" charset="0"/>
              </a:rPr>
              <a:t>Es compatible con la mayoría de aplicaciones de corte láser.</a:t>
            </a:r>
          </a:p>
          <a:p>
            <a:r>
              <a:rPr lang="es-ES" sz="1600" b="1" dirty="0">
                <a:solidFill>
                  <a:schemeClr val="tx1"/>
                </a:solidFill>
                <a:latin typeface="Bahnschrift Light" panose="020B0502040204020203" pitchFamily="34" charset="0"/>
              </a:rPr>
              <a:t>Recordar salvar los archivos en Ilustrador 8 para que sean leídos por el CAM.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36FBFCFD-39D2-137E-3BE3-C0BFFD93AD4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111953" y="826234"/>
            <a:ext cx="2910824" cy="3989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453624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>
          <a:extLst>
            <a:ext uri="{FF2B5EF4-FFF2-40B4-BE49-F238E27FC236}">
              <a16:creationId xmlns:a16="http://schemas.microsoft.com/office/drawing/2014/main" id="{14E7B524-D16A-25FF-BBED-F2594F5903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0" name="Google Shape;60;p14">
            <a:extLst>
              <a:ext uri="{FF2B5EF4-FFF2-40B4-BE49-F238E27FC236}">
                <a16:creationId xmlns:a16="http://schemas.microsoft.com/office/drawing/2014/main" id="{52D7CE32-548D-54C7-8B45-4DBD3324AD4E}"/>
              </a:ext>
            </a:extLst>
          </p:cNvPr>
          <p:cNvCxnSpPr/>
          <p:nvPr/>
        </p:nvCxnSpPr>
        <p:spPr>
          <a:xfrm>
            <a:off x="382050" y="762850"/>
            <a:ext cx="8379900" cy="0"/>
          </a:xfrm>
          <a:prstGeom prst="straightConnector1">
            <a:avLst/>
          </a:prstGeom>
          <a:noFill/>
          <a:ln w="76200" cap="flat" cmpd="sng">
            <a:solidFill>
              <a:srgbClr val="595959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61" name="Google Shape;61;p14">
            <a:extLst>
              <a:ext uri="{FF2B5EF4-FFF2-40B4-BE49-F238E27FC236}">
                <a16:creationId xmlns:a16="http://schemas.microsoft.com/office/drawing/2014/main" id="{9B47D011-257F-5146-A36E-CE1ADCFFC988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241800" y="4148375"/>
            <a:ext cx="428275" cy="830075"/>
          </a:xfrm>
          <a:prstGeom prst="rect">
            <a:avLst/>
          </a:prstGeom>
          <a:noFill/>
          <a:ln>
            <a:noFill/>
          </a:ln>
        </p:spPr>
      </p:pic>
      <p:sp>
        <p:nvSpPr>
          <p:cNvPr id="62" name="Google Shape;62;p14">
            <a:extLst>
              <a:ext uri="{FF2B5EF4-FFF2-40B4-BE49-F238E27FC236}">
                <a16:creationId xmlns:a16="http://schemas.microsoft.com/office/drawing/2014/main" id="{2F316C6E-E2A8-0D1C-1BAB-2B6BABADB41D}"/>
              </a:ext>
            </a:extLst>
          </p:cNvPr>
          <p:cNvSpPr txBox="1"/>
          <p:nvPr/>
        </p:nvSpPr>
        <p:spPr>
          <a:xfrm>
            <a:off x="254274" y="90100"/>
            <a:ext cx="8507675" cy="6093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s-ES" sz="2400" b="1" dirty="0">
                <a:solidFill>
                  <a:srgbClr val="595959"/>
                </a:solidFill>
                <a:latin typeface="Montserrat"/>
                <a:ea typeface="Montserrat"/>
                <a:cs typeface="Montserrat"/>
                <a:sym typeface="Montserrat"/>
              </a:rPr>
              <a:t>VECTORIAL: INKSCAPE</a:t>
            </a:r>
            <a:endParaRPr lang="en-US" sz="2400" b="1" dirty="0">
              <a:solidFill>
                <a:srgbClr val="595959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579883A-5C07-488E-47A4-836011F8A0C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sz="1600" dirty="0">
                <a:solidFill>
                  <a:schemeClr val="tx1"/>
                </a:solidFill>
                <a:latin typeface="Bahnschrift Light" panose="020B0502040204020203" pitchFamily="34" charset="0"/>
              </a:rPr>
              <a:t>Tipo de aplicación: Vectorización.</a:t>
            </a:r>
          </a:p>
          <a:p>
            <a:r>
              <a:rPr lang="es-ES" sz="1600" dirty="0">
                <a:solidFill>
                  <a:schemeClr val="tx1"/>
                </a:solidFill>
                <a:latin typeface="Bahnschrift Light" panose="020B0502040204020203" pitchFamily="34" charset="0"/>
              </a:rPr>
              <a:t>Software libre.</a:t>
            </a:r>
          </a:p>
          <a:p>
            <a:r>
              <a:rPr lang="es-ES" sz="1600" dirty="0">
                <a:solidFill>
                  <a:schemeClr val="tx1"/>
                </a:solidFill>
                <a:latin typeface="Bahnschrift Light" panose="020B0502040204020203" pitchFamily="34" charset="0"/>
              </a:rPr>
              <a:t>Permite crear diseños básicos y complejos con facilidad.</a:t>
            </a:r>
          </a:p>
          <a:p>
            <a:r>
              <a:rPr lang="es-ES" sz="1600" dirty="0">
                <a:solidFill>
                  <a:schemeClr val="tx1"/>
                </a:solidFill>
                <a:latin typeface="Bahnschrift Light" panose="020B0502040204020203" pitchFamily="34" charset="0"/>
              </a:rPr>
              <a:t>Es compatible con la mayoría de aplicaciones de corte láser.</a:t>
            </a:r>
          </a:p>
        </p:txBody>
      </p:sp>
      <p:pic>
        <p:nvPicPr>
          <p:cNvPr id="2" name="Picture 2" descr="Funciones de Inkscape: Diseño Gráfico Profesional">
            <a:extLst>
              <a:ext uri="{FF2B5EF4-FFF2-40B4-BE49-F238E27FC236}">
                <a16:creationId xmlns:a16="http://schemas.microsoft.com/office/drawing/2014/main" id="{2ECCEEA7-04C8-80C8-12EB-FADCC50AE77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1681"/>
          <a:stretch/>
        </p:blipFill>
        <p:spPr bwMode="auto">
          <a:xfrm>
            <a:off x="4871685" y="910680"/>
            <a:ext cx="3391360" cy="33221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1443788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>
          <a:extLst>
            <a:ext uri="{FF2B5EF4-FFF2-40B4-BE49-F238E27FC236}">
              <a16:creationId xmlns:a16="http://schemas.microsoft.com/office/drawing/2014/main" id="{A2B84384-977B-D23D-72CC-51392EB98B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0" name="Google Shape;60;p14">
            <a:extLst>
              <a:ext uri="{FF2B5EF4-FFF2-40B4-BE49-F238E27FC236}">
                <a16:creationId xmlns:a16="http://schemas.microsoft.com/office/drawing/2014/main" id="{21825C9B-DF6F-B3F7-C429-77B6E02DEACD}"/>
              </a:ext>
            </a:extLst>
          </p:cNvPr>
          <p:cNvCxnSpPr/>
          <p:nvPr/>
        </p:nvCxnSpPr>
        <p:spPr>
          <a:xfrm>
            <a:off x="382050" y="762850"/>
            <a:ext cx="8379900" cy="0"/>
          </a:xfrm>
          <a:prstGeom prst="straightConnector1">
            <a:avLst/>
          </a:prstGeom>
          <a:noFill/>
          <a:ln w="76200" cap="flat" cmpd="sng">
            <a:solidFill>
              <a:srgbClr val="595959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61" name="Google Shape;61;p14">
            <a:extLst>
              <a:ext uri="{FF2B5EF4-FFF2-40B4-BE49-F238E27FC236}">
                <a16:creationId xmlns:a16="http://schemas.microsoft.com/office/drawing/2014/main" id="{B2427617-A8E0-9A46-CB00-70AA1DCAE410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241800" y="4148375"/>
            <a:ext cx="428275" cy="830075"/>
          </a:xfrm>
          <a:prstGeom prst="rect">
            <a:avLst/>
          </a:prstGeom>
          <a:noFill/>
          <a:ln>
            <a:noFill/>
          </a:ln>
        </p:spPr>
      </p:pic>
      <p:sp>
        <p:nvSpPr>
          <p:cNvPr id="62" name="Google Shape;62;p14">
            <a:extLst>
              <a:ext uri="{FF2B5EF4-FFF2-40B4-BE49-F238E27FC236}">
                <a16:creationId xmlns:a16="http://schemas.microsoft.com/office/drawing/2014/main" id="{ECEFE198-439E-729B-1F10-7B81018008A6}"/>
              </a:ext>
            </a:extLst>
          </p:cNvPr>
          <p:cNvSpPr txBox="1"/>
          <p:nvPr/>
        </p:nvSpPr>
        <p:spPr>
          <a:xfrm>
            <a:off x="254274" y="90100"/>
            <a:ext cx="8507675" cy="6093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s-ES" sz="2400" b="1" dirty="0">
                <a:solidFill>
                  <a:srgbClr val="595959"/>
                </a:solidFill>
                <a:latin typeface="Montserrat"/>
                <a:ea typeface="Montserrat"/>
                <a:cs typeface="Montserrat"/>
                <a:sym typeface="Montserrat"/>
              </a:rPr>
              <a:t>CAM: CNCLASER</a:t>
            </a:r>
            <a:endParaRPr lang="en-US" sz="2400" b="1" dirty="0">
              <a:solidFill>
                <a:srgbClr val="595959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6D998D22-5DC4-61B6-76C7-F69D3E0345F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sz="1600" dirty="0">
                <a:solidFill>
                  <a:schemeClr val="tx1"/>
                </a:solidFill>
                <a:latin typeface="Bahnschrift Light" panose="020B0502040204020203" pitchFamily="34" charset="0"/>
              </a:rPr>
              <a:t>Tipo de aplicación: Corte láser.</a:t>
            </a:r>
          </a:p>
          <a:p>
            <a:r>
              <a:rPr lang="es-ES" sz="1600" dirty="0">
                <a:solidFill>
                  <a:schemeClr val="tx1"/>
                </a:solidFill>
                <a:latin typeface="Bahnschrift Light" panose="020B0502040204020203" pitchFamily="34" charset="0"/>
              </a:rPr>
              <a:t>Software libre.</a:t>
            </a:r>
          </a:p>
          <a:p>
            <a:r>
              <a:rPr lang="es-ES" sz="1600" dirty="0">
                <a:solidFill>
                  <a:schemeClr val="tx1"/>
                </a:solidFill>
                <a:latin typeface="Bahnschrift Light" panose="020B0502040204020203" pitchFamily="34" charset="0"/>
              </a:rPr>
              <a:t>Permite crear diseños muy básicos y generar las instrucciones para la cortadora.</a:t>
            </a:r>
          </a:p>
          <a:p>
            <a:r>
              <a:rPr lang="es-ES" sz="1600" dirty="0">
                <a:solidFill>
                  <a:schemeClr val="tx1"/>
                </a:solidFill>
                <a:latin typeface="Bahnschrift Light" panose="020B0502040204020203" pitchFamily="34" charset="0"/>
              </a:rPr>
              <a:t>Es compatible con la mayoría de aplicaciones de vectorización.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A0B11F4-3560-86DD-4E02-3AF2817D135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47858" y="910680"/>
            <a:ext cx="3239014" cy="32998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856137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>
          <a:extLst>
            <a:ext uri="{FF2B5EF4-FFF2-40B4-BE49-F238E27FC236}">
              <a16:creationId xmlns:a16="http://schemas.microsoft.com/office/drawing/2014/main" id="{FCA52D8C-710A-6DCC-8F66-CFC0C02604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0" name="Google Shape;60;p14">
            <a:extLst>
              <a:ext uri="{FF2B5EF4-FFF2-40B4-BE49-F238E27FC236}">
                <a16:creationId xmlns:a16="http://schemas.microsoft.com/office/drawing/2014/main" id="{5D0D0289-4405-92EF-9033-0D9BC460CC73}"/>
              </a:ext>
            </a:extLst>
          </p:cNvPr>
          <p:cNvCxnSpPr/>
          <p:nvPr/>
        </p:nvCxnSpPr>
        <p:spPr>
          <a:xfrm>
            <a:off x="382050" y="762850"/>
            <a:ext cx="8379900" cy="0"/>
          </a:xfrm>
          <a:prstGeom prst="straightConnector1">
            <a:avLst/>
          </a:prstGeom>
          <a:noFill/>
          <a:ln w="76200" cap="flat" cmpd="sng">
            <a:solidFill>
              <a:srgbClr val="595959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2" name="Google Shape;62;p14">
            <a:extLst>
              <a:ext uri="{FF2B5EF4-FFF2-40B4-BE49-F238E27FC236}">
                <a16:creationId xmlns:a16="http://schemas.microsoft.com/office/drawing/2014/main" id="{3EA17CAC-F10E-2245-6AFF-9412341AFB97}"/>
              </a:ext>
            </a:extLst>
          </p:cNvPr>
          <p:cNvSpPr txBox="1"/>
          <p:nvPr/>
        </p:nvSpPr>
        <p:spPr>
          <a:xfrm>
            <a:off x="254274" y="90100"/>
            <a:ext cx="8507675" cy="6093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s-ES" sz="2400" b="1" dirty="0">
                <a:solidFill>
                  <a:srgbClr val="595959"/>
                </a:solidFill>
                <a:latin typeface="Montserrat"/>
                <a:ea typeface="Montserrat"/>
                <a:cs typeface="Montserrat"/>
                <a:sym typeface="Montserrat"/>
              </a:rPr>
              <a:t>CAM: LIGHTBURN</a:t>
            </a:r>
            <a:endParaRPr lang="en-US" sz="2400" b="1" dirty="0">
              <a:solidFill>
                <a:srgbClr val="595959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BD990A6-DC12-9BBF-2E17-D6D75D0E93B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sz="1600" dirty="0">
                <a:solidFill>
                  <a:schemeClr val="tx1"/>
                </a:solidFill>
                <a:latin typeface="Bahnschrift Light" panose="020B0502040204020203" pitchFamily="34" charset="0"/>
              </a:rPr>
              <a:t>Tipo de aplicación: Corte láser.</a:t>
            </a:r>
          </a:p>
          <a:p>
            <a:r>
              <a:rPr lang="es-ES" sz="1600" dirty="0">
                <a:solidFill>
                  <a:schemeClr val="tx1"/>
                </a:solidFill>
                <a:latin typeface="Bahnschrift Light" panose="020B0502040204020203" pitchFamily="34" charset="0"/>
              </a:rPr>
              <a:t>Mediante licencia.</a:t>
            </a:r>
          </a:p>
          <a:p>
            <a:r>
              <a:rPr lang="es-ES" sz="1600" dirty="0">
                <a:solidFill>
                  <a:schemeClr val="tx1"/>
                </a:solidFill>
                <a:latin typeface="Bahnschrift Light" panose="020B0502040204020203" pitchFamily="34" charset="0"/>
              </a:rPr>
              <a:t>Permite crear diseños muy básicos y generar las instrucciones para la cortadora.</a:t>
            </a:r>
          </a:p>
          <a:p>
            <a:r>
              <a:rPr lang="es-ES" sz="1600" dirty="0">
                <a:solidFill>
                  <a:schemeClr val="tx1"/>
                </a:solidFill>
                <a:latin typeface="Bahnschrift Light" panose="020B0502040204020203" pitchFamily="34" charset="0"/>
              </a:rPr>
              <a:t>Es compatible con la mayoría de aplicaciones de vectorización.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0D4853A-F1DF-8E40-155B-9EE98AA5F6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09915" y="921830"/>
            <a:ext cx="3914899" cy="3299840"/>
          </a:xfrm>
          <a:prstGeom prst="rect">
            <a:avLst/>
          </a:prstGeom>
        </p:spPr>
      </p:pic>
      <p:pic>
        <p:nvPicPr>
          <p:cNvPr id="61" name="Google Shape;61;p14">
            <a:extLst>
              <a:ext uri="{FF2B5EF4-FFF2-40B4-BE49-F238E27FC236}">
                <a16:creationId xmlns:a16="http://schemas.microsoft.com/office/drawing/2014/main" id="{A4540048-4664-1469-965A-79F162FABA6E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241800" y="4148375"/>
            <a:ext cx="428275" cy="83007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06811563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53">
          <a:extLst>
            <a:ext uri="{FF2B5EF4-FFF2-40B4-BE49-F238E27FC236}">
              <a16:creationId xmlns:a16="http://schemas.microsoft.com/office/drawing/2014/main" id="{320F949B-7E36-389F-07DD-B53A72309E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>
            <a:extLst>
              <a:ext uri="{FF2B5EF4-FFF2-40B4-BE49-F238E27FC236}">
                <a16:creationId xmlns:a16="http://schemas.microsoft.com/office/drawing/2014/main" id="{00BDE569-4D73-4598-70B8-61F1B52F01C2}"/>
              </a:ext>
            </a:extLst>
          </p:cNvPr>
          <p:cNvSpPr txBox="1"/>
          <p:nvPr/>
        </p:nvSpPr>
        <p:spPr>
          <a:xfrm>
            <a:off x="382050" y="3177125"/>
            <a:ext cx="6817800" cy="8571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R" sz="1900" dirty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Errol Ramírez Céspedes</a:t>
            </a:r>
            <a:endParaRPr sz="1900" dirty="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 dirty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Prof. Fabricación Digital</a:t>
            </a:r>
            <a:endParaRPr sz="1900" dirty="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5" name="Google Shape;55;p13">
            <a:extLst>
              <a:ext uri="{FF2B5EF4-FFF2-40B4-BE49-F238E27FC236}">
                <a16:creationId xmlns:a16="http://schemas.microsoft.com/office/drawing/2014/main" id="{F9D138C7-76F4-F822-EB28-C61FC5F44571}"/>
              </a:ext>
            </a:extLst>
          </p:cNvPr>
          <p:cNvSpPr txBox="1"/>
          <p:nvPr/>
        </p:nvSpPr>
        <p:spPr>
          <a:xfrm>
            <a:off x="382050" y="2635750"/>
            <a:ext cx="7079700" cy="67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R" sz="2800" b="1" dirty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OPTIMIZACIÓN DE DISEÑOS</a:t>
            </a:r>
            <a:endParaRPr sz="2800" b="1" dirty="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  <p:extLst>
      <p:ext uri="{BB962C8B-B14F-4D97-AF65-F5344CB8AC3E}">
        <p14:creationId xmlns:p14="http://schemas.microsoft.com/office/powerpoint/2010/main" val="282399353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>
          <a:extLst>
            <a:ext uri="{FF2B5EF4-FFF2-40B4-BE49-F238E27FC236}">
              <a16:creationId xmlns:a16="http://schemas.microsoft.com/office/drawing/2014/main" id="{CEACBB1E-56DF-69EA-C493-B8CA453C14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0" name="Google Shape;60;p14">
            <a:extLst>
              <a:ext uri="{FF2B5EF4-FFF2-40B4-BE49-F238E27FC236}">
                <a16:creationId xmlns:a16="http://schemas.microsoft.com/office/drawing/2014/main" id="{1CDC3371-8276-D690-4060-58A03D72F3B7}"/>
              </a:ext>
            </a:extLst>
          </p:cNvPr>
          <p:cNvCxnSpPr/>
          <p:nvPr/>
        </p:nvCxnSpPr>
        <p:spPr>
          <a:xfrm>
            <a:off x="382050" y="762850"/>
            <a:ext cx="8379900" cy="0"/>
          </a:xfrm>
          <a:prstGeom prst="straightConnector1">
            <a:avLst/>
          </a:prstGeom>
          <a:noFill/>
          <a:ln w="76200" cap="flat" cmpd="sng">
            <a:solidFill>
              <a:srgbClr val="595959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61" name="Google Shape;61;p14">
            <a:extLst>
              <a:ext uri="{FF2B5EF4-FFF2-40B4-BE49-F238E27FC236}">
                <a16:creationId xmlns:a16="http://schemas.microsoft.com/office/drawing/2014/main" id="{F7A7E8C9-877D-39CA-07DB-C601AE59FBF4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241800" y="4148375"/>
            <a:ext cx="428275" cy="830075"/>
          </a:xfrm>
          <a:prstGeom prst="rect">
            <a:avLst/>
          </a:prstGeom>
          <a:noFill/>
          <a:ln>
            <a:noFill/>
          </a:ln>
        </p:spPr>
      </p:pic>
      <p:sp>
        <p:nvSpPr>
          <p:cNvPr id="62" name="Google Shape;62;p14">
            <a:extLst>
              <a:ext uri="{FF2B5EF4-FFF2-40B4-BE49-F238E27FC236}">
                <a16:creationId xmlns:a16="http://schemas.microsoft.com/office/drawing/2014/main" id="{030B26A1-EE74-90B2-7D6C-7521D35B7939}"/>
              </a:ext>
            </a:extLst>
          </p:cNvPr>
          <p:cNvSpPr txBox="1"/>
          <p:nvPr/>
        </p:nvSpPr>
        <p:spPr>
          <a:xfrm>
            <a:off x="254275" y="90100"/>
            <a:ext cx="8147712" cy="6624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2700" b="1" dirty="0">
                <a:solidFill>
                  <a:srgbClr val="595959"/>
                </a:solidFill>
                <a:latin typeface="Montserrat"/>
                <a:ea typeface="Montserrat"/>
                <a:cs typeface="Montserrat"/>
                <a:sym typeface="Montserrat"/>
              </a:rPr>
              <a:t>¿POR QUÉ OPTIMIZAR?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A83A2A66-26BD-5A2D-F107-D3275AE951F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sz="2200" dirty="0">
                <a:solidFill>
                  <a:schemeClr val="tx1"/>
                </a:solidFill>
                <a:latin typeface="Bahnschrift Light" panose="020B0502040204020203" pitchFamily="34" charset="0"/>
              </a:rPr>
              <a:t>Optimizar diseños reduce el tiempo en máquina, lo que baja costos y acelera la producción.</a:t>
            </a:r>
          </a:p>
          <a:p>
            <a:r>
              <a:rPr lang="es-ES" sz="2200" dirty="0">
                <a:solidFill>
                  <a:schemeClr val="tx1"/>
                </a:solidFill>
                <a:latin typeface="Bahnschrift Light" panose="020B0502040204020203" pitchFamily="34" charset="0"/>
              </a:rPr>
              <a:t>Aprovechar bien el material minimiza el desperdicio y aumenta la eficiencia, menos residuos significa más sustentabilidad.</a:t>
            </a:r>
          </a:p>
          <a:p>
            <a:r>
              <a:rPr lang="es-ES" sz="2200" dirty="0">
                <a:solidFill>
                  <a:schemeClr val="tx1"/>
                </a:solidFill>
                <a:latin typeface="Bahnschrift Light" panose="020B0502040204020203" pitchFamily="34" charset="0"/>
              </a:rPr>
              <a:t>Esto también reduce el desgaste de la máquina y mejora su rendimiento.</a:t>
            </a:r>
          </a:p>
          <a:p>
            <a:r>
              <a:rPr lang="es-ES" sz="2200" dirty="0">
                <a:solidFill>
                  <a:schemeClr val="tx1"/>
                </a:solidFill>
                <a:latin typeface="Bahnschrift Light" panose="020B0502040204020203" pitchFamily="34" charset="0"/>
              </a:rPr>
              <a:t>En conjunto, se ahorra tiempo, dinero y se entrega un</a:t>
            </a:r>
            <a:br>
              <a:rPr lang="es-ES" sz="2200" dirty="0">
                <a:solidFill>
                  <a:schemeClr val="tx1"/>
                </a:solidFill>
                <a:latin typeface="Bahnschrift Light" panose="020B0502040204020203" pitchFamily="34" charset="0"/>
              </a:rPr>
            </a:br>
            <a:r>
              <a:rPr lang="es-ES" sz="2200" dirty="0">
                <a:solidFill>
                  <a:schemeClr val="tx1"/>
                </a:solidFill>
                <a:latin typeface="Bahnschrift Light" panose="020B0502040204020203" pitchFamily="34" charset="0"/>
              </a:rPr>
              <a:t>trabajo más profesional.</a:t>
            </a:r>
          </a:p>
        </p:txBody>
      </p:sp>
    </p:spTree>
    <p:extLst>
      <p:ext uri="{BB962C8B-B14F-4D97-AF65-F5344CB8AC3E}">
        <p14:creationId xmlns:p14="http://schemas.microsoft.com/office/powerpoint/2010/main" val="370639714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>
          <a:extLst>
            <a:ext uri="{FF2B5EF4-FFF2-40B4-BE49-F238E27FC236}">
              <a16:creationId xmlns:a16="http://schemas.microsoft.com/office/drawing/2014/main" id="{AC929DC2-E47B-2971-B613-5D0C398466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0" name="Google Shape;60;p14">
            <a:extLst>
              <a:ext uri="{FF2B5EF4-FFF2-40B4-BE49-F238E27FC236}">
                <a16:creationId xmlns:a16="http://schemas.microsoft.com/office/drawing/2014/main" id="{8D5B0263-CAC6-4819-44CB-FED7308BAB9A}"/>
              </a:ext>
            </a:extLst>
          </p:cNvPr>
          <p:cNvCxnSpPr/>
          <p:nvPr/>
        </p:nvCxnSpPr>
        <p:spPr>
          <a:xfrm>
            <a:off x="382050" y="762850"/>
            <a:ext cx="8379900" cy="0"/>
          </a:xfrm>
          <a:prstGeom prst="straightConnector1">
            <a:avLst/>
          </a:prstGeom>
          <a:noFill/>
          <a:ln w="76200" cap="flat" cmpd="sng">
            <a:solidFill>
              <a:srgbClr val="595959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2" name="Google Shape;62;p14">
            <a:extLst>
              <a:ext uri="{FF2B5EF4-FFF2-40B4-BE49-F238E27FC236}">
                <a16:creationId xmlns:a16="http://schemas.microsoft.com/office/drawing/2014/main" id="{9309CE2E-D683-44E8-2F5F-ED4F427927E4}"/>
              </a:ext>
            </a:extLst>
          </p:cNvPr>
          <p:cNvSpPr txBox="1"/>
          <p:nvPr/>
        </p:nvSpPr>
        <p:spPr>
          <a:xfrm>
            <a:off x="254274" y="90100"/>
            <a:ext cx="8507675" cy="6093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s-ES" sz="2400" b="1" dirty="0">
                <a:solidFill>
                  <a:srgbClr val="595959"/>
                </a:solidFill>
                <a:latin typeface="Montserrat"/>
                <a:ea typeface="Montserrat"/>
                <a:cs typeface="Montserrat"/>
                <a:sym typeface="Montserrat"/>
              </a:rPr>
              <a:t>BORDES COMPARTIDOS</a:t>
            </a:r>
            <a:endParaRPr lang="en-US" sz="2400" b="1" dirty="0">
              <a:solidFill>
                <a:srgbClr val="595959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2A08D58-000E-06D8-8E6E-C9A1EFF8BE9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sz="1600" dirty="0">
                <a:solidFill>
                  <a:schemeClr val="tx1"/>
                </a:solidFill>
                <a:latin typeface="Bahnschrift Light" panose="020B0502040204020203" pitchFamily="34" charset="0"/>
              </a:rPr>
              <a:t>En esta técnica, pegamos bordes rectos o curvos a otros con la misma forma. De esta manera logramos que el láser pase solo 1 vez y ahorramos tiempo de corte y material.</a:t>
            </a:r>
          </a:p>
        </p:txBody>
      </p:sp>
      <p:pic>
        <p:nvPicPr>
          <p:cNvPr id="61" name="Google Shape;61;p14">
            <a:extLst>
              <a:ext uri="{FF2B5EF4-FFF2-40B4-BE49-F238E27FC236}">
                <a16:creationId xmlns:a16="http://schemas.microsoft.com/office/drawing/2014/main" id="{9C671E01-1655-C2F8-822D-502AF977D1D4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241800" y="4148375"/>
            <a:ext cx="428275" cy="830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Picture 6" descr="A black background with colorful lines&#10;&#10;AI-generated content may be incorrect.">
            <a:extLst>
              <a:ext uri="{FF2B5EF4-FFF2-40B4-BE49-F238E27FC236}">
                <a16:creationId xmlns:a16="http://schemas.microsoft.com/office/drawing/2014/main" id="{3B58892B-08EB-BD04-311B-D11CDC65772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11600" y="819633"/>
            <a:ext cx="4228280" cy="35610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884413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>
          <a:extLst>
            <a:ext uri="{FF2B5EF4-FFF2-40B4-BE49-F238E27FC236}">
              <a16:creationId xmlns:a16="http://schemas.microsoft.com/office/drawing/2014/main" id="{AE6820C6-DFB2-7B6C-0746-608E07F881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0" name="Google Shape;60;p14">
            <a:extLst>
              <a:ext uri="{FF2B5EF4-FFF2-40B4-BE49-F238E27FC236}">
                <a16:creationId xmlns:a16="http://schemas.microsoft.com/office/drawing/2014/main" id="{BAE06366-B41F-1567-D6EB-66627B04D3BC}"/>
              </a:ext>
            </a:extLst>
          </p:cNvPr>
          <p:cNvCxnSpPr/>
          <p:nvPr/>
        </p:nvCxnSpPr>
        <p:spPr>
          <a:xfrm>
            <a:off x="382050" y="762850"/>
            <a:ext cx="8379900" cy="0"/>
          </a:xfrm>
          <a:prstGeom prst="straightConnector1">
            <a:avLst/>
          </a:prstGeom>
          <a:noFill/>
          <a:ln w="76200" cap="flat" cmpd="sng">
            <a:solidFill>
              <a:srgbClr val="595959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2" name="Google Shape;62;p14">
            <a:extLst>
              <a:ext uri="{FF2B5EF4-FFF2-40B4-BE49-F238E27FC236}">
                <a16:creationId xmlns:a16="http://schemas.microsoft.com/office/drawing/2014/main" id="{8EB33E5C-D83F-FC4B-EF34-FF9CE00A3723}"/>
              </a:ext>
            </a:extLst>
          </p:cNvPr>
          <p:cNvSpPr txBox="1"/>
          <p:nvPr/>
        </p:nvSpPr>
        <p:spPr>
          <a:xfrm>
            <a:off x="254274" y="90100"/>
            <a:ext cx="8507675" cy="6093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s-ES" sz="2400" b="1" dirty="0">
                <a:solidFill>
                  <a:srgbClr val="595959"/>
                </a:solidFill>
                <a:latin typeface="Montserrat"/>
                <a:ea typeface="Montserrat"/>
                <a:cs typeface="Montserrat"/>
                <a:sym typeface="Montserrat"/>
              </a:rPr>
              <a:t>GRABADO POR COLUMNAS</a:t>
            </a:r>
            <a:endParaRPr lang="en-US" sz="2400" b="1" dirty="0">
              <a:solidFill>
                <a:srgbClr val="595959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38409CE-38E8-BF41-F047-9F378FCF667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sz="2000" dirty="0">
                <a:solidFill>
                  <a:schemeClr val="tx1"/>
                </a:solidFill>
                <a:latin typeface="Bahnschrift Light" panose="020B0502040204020203" pitchFamily="34" charset="0"/>
              </a:rPr>
              <a:t>Con esta técnica buscamos reducir los tiempos muertos o sea el tiempo que el láser no trabaja y solo se desplaza el puntero.</a:t>
            </a:r>
          </a:p>
          <a:p>
            <a:r>
              <a:rPr lang="es-ES" sz="2000" dirty="0">
                <a:solidFill>
                  <a:schemeClr val="tx1"/>
                </a:solidFill>
                <a:latin typeface="Bahnschrift Light" panose="020B0502040204020203" pitchFamily="34" charset="0"/>
              </a:rPr>
              <a:t>Cuando vamos a grabar múltiples piezas es mejor dividir el grabado en bloques o columnas y de esta manera lograremos reducir el tiempo de grabado enormemente y con esto, el costo final del proyecto.</a:t>
            </a:r>
          </a:p>
        </p:txBody>
      </p:sp>
      <p:pic>
        <p:nvPicPr>
          <p:cNvPr id="61" name="Google Shape;61;p14">
            <a:extLst>
              <a:ext uri="{FF2B5EF4-FFF2-40B4-BE49-F238E27FC236}">
                <a16:creationId xmlns:a16="http://schemas.microsoft.com/office/drawing/2014/main" id="{6F9EE8C3-0A2A-3847-CE46-5585725B83E2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241800" y="4148375"/>
            <a:ext cx="428275" cy="83007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0327167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>
          <a:extLst>
            <a:ext uri="{FF2B5EF4-FFF2-40B4-BE49-F238E27FC236}">
              <a16:creationId xmlns:a16="http://schemas.microsoft.com/office/drawing/2014/main" id="{F00AB272-D42F-3C31-6E26-E3F47D124F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0" name="Google Shape;60;p14">
            <a:extLst>
              <a:ext uri="{FF2B5EF4-FFF2-40B4-BE49-F238E27FC236}">
                <a16:creationId xmlns:a16="http://schemas.microsoft.com/office/drawing/2014/main" id="{B19BDE4A-D723-B4AC-9E79-188E59F6573E}"/>
              </a:ext>
            </a:extLst>
          </p:cNvPr>
          <p:cNvCxnSpPr/>
          <p:nvPr/>
        </p:nvCxnSpPr>
        <p:spPr>
          <a:xfrm>
            <a:off x="382050" y="762850"/>
            <a:ext cx="8379900" cy="0"/>
          </a:xfrm>
          <a:prstGeom prst="straightConnector1">
            <a:avLst/>
          </a:prstGeom>
          <a:noFill/>
          <a:ln w="76200" cap="flat" cmpd="sng">
            <a:solidFill>
              <a:srgbClr val="595959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2" name="Google Shape;62;p14">
            <a:extLst>
              <a:ext uri="{FF2B5EF4-FFF2-40B4-BE49-F238E27FC236}">
                <a16:creationId xmlns:a16="http://schemas.microsoft.com/office/drawing/2014/main" id="{3FCCD204-609D-F24E-2F77-3840031B04DF}"/>
              </a:ext>
            </a:extLst>
          </p:cNvPr>
          <p:cNvSpPr txBox="1"/>
          <p:nvPr/>
        </p:nvSpPr>
        <p:spPr>
          <a:xfrm>
            <a:off x="254274" y="90100"/>
            <a:ext cx="8507675" cy="6093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s-ES" sz="2400" b="1" dirty="0">
                <a:solidFill>
                  <a:srgbClr val="595959"/>
                </a:solidFill>
                <a:latin typeface="Montserrat"/>
                <a:ea typeface="Montserrat"/>
                <a:cs typeface="Montserrat"/>
                <a:sym typeface="Montserrat"/>
              </a:rPr>
              <a:t>GRABADO POR COLUMNAS</a:t>
            </a:r>
            <a:endParaRPr lang="en-US" sz="2400" b="1" dirty="0">
              <a:solidFill>
                <a:srgbClr val="595959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61" name="Google Shape;61;p14">
            <a:extLst>
              <a:ext uri="{FF2B5EF4-FFF2-40B4-BE49-F238E27FC236}">
                <a16:creationId xmlns:a16="http://schemas.microsoft.com/office/drawing/2014/main" id="{E8873751-20DD-652C-9D13-E931817AAA79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241800" y="4148375"/>
            <a:ext cx="428275" cy="83007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0" name="Group 9">
            <a:extLst>
              <a:ext uri="{FF2B5EF4-FFF2-40B4-BE49-F238E27FC236}">
                <a16:creationId xmlns:a16="http://schemas.microsoft.com/office/drawing/2014/main" id="{06F7D621-A2CD-A434-7590-839168835F84}"/>
              </a:ext>
            </a:extLst>
          </p:cNvPr>
          <p:cNvGrpSpPr/>
          <p:nvPr/>
        </p:nvGrpSpPr>
        <p:grpSpPr>
          <a:xfrm>
            <a:off x="473747" y="959214"/>
            <a:ext cx="8068727" cy="3726516"/>
            <a:chOff x="0" y="974203"/>
            <a:chExt cx="8670075" cy="4004247"/>
          </a:xfrm>
        </p:grpSpPr>
        <p:pic>
          <p:nvPicPr>
            <p:cNvPr id="5" name="Picture 4" descr="A screenshot of a computer screen&#10;&#10;AI-generated content may be incorrect.">
              <a:extLst>
                <a:ext uri="{FF2B5EF4-FFF2-40B4-BE49-F238E27FC236}">
                  <a16:creationId xmlns:a16="http://schemas.microsoft.com/office/drawing/2014/main" id="{58D5D7FD-6021-2516-B61B-109BEAA0B49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0" y="974203"/>
              <a:ext cx="4754565" cy="4004247"/>
            </a:xfrm>
            <a:prstGeom prst="rect">
              <a:avLst/>
            </a:prstGeom>
          </p:spPr>
        </p:pic>
        <p:pic>
          <p:nvPicPr>
            <p:cNvPr id="9" name="Picture 8" descr="A screenshot of a qr code&#10;&#10;AI-generated content may be incorrect.">
              <a:extLst>
                <a:ext uri="{FF2B5EF4-FFF2-40B4-BE49-F238E27FC236}">
                  <a16:creationId xmlns:a16="http://schemas.microsoft.com/office/drawing/2014/main" id="{E2178D21-5310-0765-9C2A-37BFC247FC3E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3915510" y="974203"/>
              <a:ext cx="4754565" cy="400424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39344275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>
          <a:extLst>
            <a:ext uri="{FF2B5EF4-FFF2-40B4-BE49-F238E27FC236}">
              <a16:creationId xmlns:a16="http://schemas.microsoft.com/office/drawing/2014/main" id="{B87896EB-AF5A-9A70-1B67-D7CD9F7575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0" name="Google Shape;60;p14">
            <a:extLst>
              <a:ext uri="{FF2B5EF4-FFF2-40B4-BE49-F238E27FC236}">
                <a16:creationId xmlns:a16="http://schemas.microsoft.com/office/drawing/2014/main" id="{A2920A3A-48B5-BDF1-515F-50F678CF7BA4}"/>
              </a:ext>
            </a:extLst>
          </p:cNvPr>
          <p:cNvCxnSpPr/>
          <p:nvPr/>
        </p:nvCxnSpPr>
        <p:spPr>
          <a:xfrm>
            <a:off x="382050" y="762850"/>
            <a:ext cx="8379900" cy="0"/>
          </a:xfrm>
          <a:prstGeom prst="straightConnector1">
            <a:avLst/>
          </a:prstGeom>
          <a:noFill/>
          <a:ln w="76200" cap="flat" cmpd="sng">
            <a:solidFill>
              <a:srgbClr val="595959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2" name="Google Shape;62;p14">
            <a:extLst>
              <a:ext uri="{FF2B5EF4-FFF2-40B4-BE49-F238E27FC236}">
                <a16:creationId xmlns:a16="http://schemas.microsoft.com/office/drawing/2014/main" id="{59E822FB-A496-647F-9A3A-560B3DC4B04A}"/>
              </a:ext>
            </a:extLst>
          </p:cNvPr>
          <p:cNvSpPr txBox="1"/>
          <p:nvPr/>
        </p:nvSpPr>
        <p:spPr>
          <a:xfrm>
            <a:off x="254274" y="90100"/>
            <a:ext cx="8507675" cy="6093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s-ES" sz="2400" b="1" dirty="0">
                <a:solidFill>
                  <a:srgbClr val="595959"/>
                </a:solidFill>
                <a:latin typeface="Montserrat"/>
                <a:ea typeface="Montserrat"/>
                <a:cs typeface="Montserrat"/>
                <a:sym typeface="Montserrat"/>
              </a:rPr>
              <a:t>CORTE DE ADENTRO HACIA AFUERA</a:t>
            </a:r>
            <a:endParaRPr lang="en-US" sz="2400" b="1" dirty="0">
              <a:solidFill>
                <a:srgbClr val="595959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A3F5822-3356-75FD-C27F-5FBA53D98C5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sz="2000" dirty="0">
                <a:solidFill>
                  <a:schemeClr val="tx1"/>
                </a:solidFill>
                <a:latin typeface="Bahnschrift Light" panose="020B0502040204020203" pitchFamily="34" charset="0"/>
              </a:rPr>
              <a:t>Depende de la cama con la que trabajemos (cuchillas o panal de abeja) es útil que las piezas internas y más pequeñas se corten primero que las externas. Con esto evitamos que la pieza grande se corte primero y el corte interior no se haga.</a:t>
            </a:r>
          </a:p>
        </p:txBody>
      </p:sp>
      <p:pic>
        <p:nvPicPr>
          <p:cNvPr id="61" name="Google Shape;61;p14">
            <a:extLst>
              <a:ext uri="{FF2B5EF4-FFF2-40B4-BE49-F238E27FC236}">
                <a16:creationId xmlns:a16="http://schemas.microsoft.com/office/drawing/2014/main" id="{3B799E0F-4D90-97A9-E42E-4D5BF573E849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241800" y="4148375"/>
            <a:ext cx="428275" cy="830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Picture 4" descr="A screen shot of a black background&#10;&#10;AI-generated content may be incorrect.">
            <a:extLst>
              <a:ext uri="{FF2B5EF4-FFF2-40B4-BE49-F238E27FC236}">
                <a16:creationId xmlns:a16="http://schemas.microsoft.com/office/drawing/2014/main" id="{2687D3C9-3330-4580-D23D-D9FE5E89394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67069" y="638762"/>
            <a:ext cx="4203006" cy="35397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812921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5"/>
          <p:cNvSpPr txBox="1">
            <a:spLocks noGrp="1"/>
          </p:cNvSpPr>
          <p:nvPr>
            <p:ph type="subTitle" idx="1"/>
          </p:nvPr>
        </p:nvSpPr>
        <p:spPr>
          <a:xfrm>
            <a:off x="311700" y="3985275"/>
            <a:ext cx="8520600" cy="57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 err="1">
                <a:solidFill>
                  <a:srgbClr val="666666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ejramirez</a:t>
            </a:r>
            <a:r>
              <a:rPr lang="en" sz="2000" dirty="0">
                <a:solidFill>
                  <a:srgbClr val="666666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@ucenfotec.ac.cr</a:t>
            </a:r>
            <a:endParaRPr sz="2000" dirty="0">
              <a:solidFill>
                <a:srgbClr val="666666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73" name="Google Shape;73;p15"/>
          <p:cNvSpPr txBox="1">
            <a:spLocks noGrp="1"/>
          </p:cNvSpPr>
          <p:nvPr>
            <p:ph type="title" idx="4294967295"/>
          </p:nvPr>
        </p:nvSpPr>
        <p:spPr>
          <a:xfrm>
            <a:off x="311700" y="742225"/>
            <a:ext cx="8520600" cy="107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300" b="1">
                <a:solidFill>
                  <a:srgbClr val="666666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¿Preguntas?</a:t>
            </a:r>
            <a:endParaRPr sz="5300" b="1">
              <a:solidFill>
                <a:srgbClr val="666666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pic>
        <p:nvPicPr>
          <p:cNvPr id="74" name="Google Shape;74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56482" y="1821025"/>
            <a:ext cx="1031030" cy="19983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8" name="Group 7">
            <a:extLst>
              <a:ext uri="{FF2B5EF4-FFF2-40B4-BE49-F238E27FC236}">
                <a16:creationId xmlns:a16="http://schemas.microsoft.com/office/drawing/2014/main" id="{95DA4BA5-91F8-0CDF-E94A-41563248C89B}"/>
              </a:ext>
            </a:extLst>
          </p:cNvPr>
          <p:cNvGrpSpPr/>
          <p:nvPr/>
        </p:nvGrpSpPr>
        <p:grpSpPr>
          <a:xfrm>
            <a:off x="3500920" y="4517450"/>
            <a:ext cx="2142153" cy="380700"/>
            <a:chOff x="3321763" y="4526813"/>
            <a:chExt cx="2142153" cy="380700"/>
          </a:xfrm>
        </p:grpSpPr>
        <p:sp>
          <p:nvSpPr>
            <p:cNvPr id="71" name="Google Shape;71;p15"/>
            <p:cNvSpPr txBox="1"/>
            <p:nvPr/>
          </p:nvSpPr>
          <p:spPr>
            <a:xfrm>
              <a:off x="4228226" y="4526813"/>
              <a:ext cx="1235690" cy="380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dirty="0">
                  <a:solidFill>
                    <a:srgbClr val="666666"/>
                  </a:solidFill>
                  <a:latin typeface="Source Sans Pro"/>
                  <a:ea typeface="Source Sans Pro"/>
                  <a:cs typeface="Source Sans Pro"/>
                  <a:sym typeface="Source Sans Pro"/>
                </a:rPr>
                <a:t>@redbeardcr</a:t>
              </a:r>
              <a:endParaRPr dirty="0">
                <a:solidFill>
                  <a:srgbClr val="666666"/>
                </a:solidFill>
                <a:latin typeface="Source Sans Pro"/>
                <a:ea typeface="Source Sans Pro"/>
                <a:cs typeface="Source Sans Pro"/>
                <a:sym typeface="Source Sans Pro"/>
              </a:endParaRPr>
            </a:p>
          </p:txBody>
        </p:sp>
        <p:pic>
          <p:nvPicPr>
            <p:cNvPr id="3" name="Graphic 2">
              <a:extLst>
                <a:ext uri="{FF2B5EF4-FFF2-40B4-BE49-F238E27FC236}">
                  <a16:creationId xmlns:a16="http://schemas.microsoft.com/office/drawing/2014/main" id="{836307C3-1C55-EA99-3AD7-14E771DBDA7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3648861" y="4595121"/>
              <a:ext cx="252265" cy="252265"/>
            </a:xfrm>
            <a:prstGeom prst="rect">
              <a:avLst/>
            </a:prstGeom>
          </p:spPr>
        </p:pic>
        <p:pic>
          <p:nvPicPr>
            <p:cNvPr id="5" name="Graphic 4">
              <a:extLst>
                <a:ext uri="{FF2B5EF4-FFF2-40B4-BE49-F238E27FC236}">
                  <a16:creationId xmlns:a16="http://schemas.microsoft.com/office/drawing/2014/main" id="{D48E46F1-6A23-4A18-F9A4-651B79A317C7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3321763" y="4595967"/>
              <a:ext cx="252265" cy="251421"/>
            </a:xfrm>
            <a:prstGeom prst="rect">
              <a:avLst/>
            </a:prstGeom>
          </p:spPr>
        </p:pic>
        <p:pic>
          <p:nvPicPr>
            <p:cNvPr id="7" name="Graphic 6">
              <a:extLst>
                <a:ext uri="{FF2B5EF4-FFF2-40B4-BE49-F238E27FC236}">
                  <a16:creationId xmlns:a16="http://schemas.microsoft.com/office/drawing/2014/main" id="{2CF624DC-F5B0-4AA4-932E-8F95DC91400F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3975959" y="4595121"/>
              <a:ext cx="252266" cy="252266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635</TotalTime>
  <Words>740</Words>
  <Application>Microsoft Office PowerPoint</Application>
  <PresentationFormat>On-screen Show (16:9)</PresentationFormat>
  <Paragraphs>73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4" baseType="lpstr">
      <vt:lpstr>Arial</vt:lpstr>
      <vt:lpstr>Bahnschrift Light</vt:lpstr>
      <vt:lpstr>Montserrat</vt:lpstr>
      <vt:lpstr>Source Sans Pro</vt:lpstr>
      <vt:lpstr>Simple Light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¿Preguntas?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Errol RamCes</dc:creator>
  <cp:lastModifiedBy>Errol RamCes</cp:lastModifiedBy>
  <cp:revision>9</cp:revision>
  <dcterms:modified xsi:type="dcterms:W3CDTF">2025-04-09T04:17:22Z</dcterms:modified>
</cp:coreProperties>
</file>